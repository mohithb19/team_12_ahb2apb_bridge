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5" r:id="rId7"/>
    <p:sldId id="263" r:id="rId8"/>
    <p:sldId id="264" r:id="rId9"/>
    <p:sldId id="266" r:id="rId10"/>
    <p:sldId id="267" r:id="rId11"/>
    <p:sldId id="268" r:id="rId12"/>
    <p:sldId id="269" r:id="rId13"/>
    <p:sldId id="273" r:id="rId14"/>
    <p:sldId id="276" r:id="rId15"/>
    <p:sldId id="274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4ED4B-1236-E67C-B247-2E09199BD0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4C3D46-5687-43C9-E7B4-A5B7AED2C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CE26-02E3-97E1-5091-42FC9E481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B2BF9-D45E-D20A-20AA-90378D2C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4B31D-0D4C-13EF-7E88-13583528B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4509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5DB65-E850-3EC0-705E-9267CBC5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CB0FE-A7A7-A07A-FEDC-7C5DDBC80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748B7-FCA4-3F63-4AA6-400F4050C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C5A4D-45B8-219A-6849-CA135FB65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6F057-2540-608F-0F1B-B2C33C2F9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4213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F3996-6C28-560B-BA3F-10F17E9D4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304B3-0E7C-F1D9-F3FC-87D60DBE6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BC3ED-A271-EBF5-3D15-C79A3B13D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EC935-4DC4-BE8B-227E-22E1052B1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8F1C5-4D36-075A-01CD-7DA1B6926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7101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DA245-342B-A3C1-A5E8-24838D21A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CCF8E-05A5-BB7F-4271-2FA7DF547E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C79FB0-9925-BAC4-3913-28B74F049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9022B-28F5-F1EB-E05A-298528C91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6E308-CC53-44EF-4D94-8696EF032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CF77A-8F0A-E9E9-7F16-3ACC87113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3534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61B4D-C204-181E-3CD8-A2F87418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78906-5303-99B9-2167-A3C4F7D46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F8066C-91D4-970A-52F3-EF1732514B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2EF93E-89CA-E9D5-814A-E73CB50C0F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2C2252-360B-DCDC-5EFB-52FB2866F3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A4130A-2229-0315-83F9-A67535A35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2A13AE-D9C8-89C6-4FD5-A64EF4291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EA563-1F37-D807-D599-3069F1576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866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CE825-D463-257D-BACA-193995039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60B306-0101-3837-722F-D0EB66B9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7E982-E7B7-1F06-BC81-B58E89C8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D50E8-562D-A4AF-0F4B-6D2557B4D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6301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6C62C-BA2B-29CB-AB6B-46611A43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88D40-67C6-6A97-576F-F9C3A7DC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F5B17-7CF9-AD95-B013-A11BA0994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5885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861A5-F5EA-2F93-0B15-911D2CB17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28448-4666-DDAB-A065-911F102B7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01E05A-4DCD-10D6-C9BA-1702A5EA99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7ECF2-547A-6FBE-68EC-CD94F789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19D43-C573-E604-670A-367C4BFA9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301CEB-F1B5-A8F2-62B3-F9F27A65F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219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C8829-76F8-D5A1-2CD4-1308C3ACC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A1A7E3-E65F-FD45-C24B-6C879D49A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76960E-3447-0B1B-A226-76EAC8FBA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734988-EE4C-FE09-3858-A5A51840D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BEC073-4FE0-8EA2-4208-22C6C3B4A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57B80B-EECE-CA37-61B1-6E883CB1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8654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04C43-1A0A-BB21-43E8-48C3FE8AE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93937B-6B3C-C311-07DB-9045418F9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7DBC6-1231-3AE1-4CD5-0BD96B9F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7397A-4CC2-EB7F-CCAE-AA5335F03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60AA0-EE7C-B4EC-3D9B-6869C3384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8710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2915C0-BF8E-6914-1013-5CD8BFCC6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8BEA3-2AF5-0F36-1B32-CB6AE361E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1E7BD-19A0-F29C-FFF8-3415B05B8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046714-D64B-2E5D-A7B9-200801555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72F60-F955-83B6-CFDA-2DA44366C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279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869EBA-DC05-F725-2A6E-CFDE303EC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82612-E749-66BE-B724-3931A604A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B1FE0-ECB9-7C85-9CD4-2BC1D925D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392C46-C0FD-43E2-9C94-0AB8FBDDE3F7}" type="datetimeFigureOut">
              <a:rPr lang="en-IN" smtClean="0"/>
              <a:t>04-03-2025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32925-F9E8-68AE-9B59-9C7ADCB8D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AEE3F-A783-7F93-A221-BE36058FC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D4AD45-8242-4C71-9BC6-834E9207A3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4377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honimo/Pre_Silicon-AHB-to_APB-Verification" TargetMode="External"/><Relationship Id="rId2" Type="http://schemas.openxmlformats.org/officeDocument/2006/relationships/hyperlink" Target="https://github.com/prajwalgekkouga/AHB-to-APB-Bridg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76A48-9A7E-02D8-9AB4-95E12AB48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b="0" i="0" dirty="0">
              <a:solidFill>
                <a:srgbClr val="404040"/>
              </a:solidFill>
              <a:effectLst/>
              <a:latin typeface="Inter"/>
            </a:endParaRPr>
          </a:p>
          <a:p>
            <a:pPr marL="0" indent="0" algn="ctr">
              <a:buNone/>
            </a:pPr>
            <a:br>
              <a:rPr lang="en-US" dirty="0">
                <a:solidFill>
                  <a:srgbClr val="404040"/>
                </a:solidFill>
                <a:latin typeface="Inter"/>
              </a:rPr>
            </a:br>
            <a:r>
              <a:rPr lang="en-US" sz="3200" b="1" i="0" dirty="0">
                <a:solidFill>
                  <a:srgbClr val="404040"/>
                </a:solidFill>
                <a:effectLst/>
                <a:latin typeface="Inter"/>
              </a:rPr>
              <a:t>Design and Verification of AHB2APB Bridge using UVM</a:t>
            </a:r>
          </a:p>
          <a:p>
            <a:pPr marL="0" indent="0" algn="ctr">
              <a:buNone/>
            </a:pPr>
            <a:r>
              <a:rPr lang="en-US" sz="3200" b="1" i="0" dirty="0">
                <a:solidFill>
                  <a:srgbClr val="404040"/>
                </a:solidFill>
                <a:effectLst/>
                <a:latin typeface="Inter"/>
              </a:rPr>
              <a:t> ECE593 – Fundamentals of Pre-Silicon Validation</a:t>
            </a:r>
            <a:endParaRPr lang="en-US" sz="3200" b="1" dirty="0">
              <a:solidFill>
                <a:srgbClr val="404040"/>
              </a:solidFill>
              <a:latin typeface="Inter"/>
            </a:endParaRPr>
          </a:p>
          <a:p>
            <a:pPr marL="0" indent="0">
              <a:buNone/>
            </a:pPr>
            <a:endParaRPr lang="en-US" dirty="0">
              <a:solidFill>
                <a:srgbClr val="404040"/>
              </a:solidFill>
              <a:latin typeface="Inter"/>
            </a:endParaRPr>
          </a:p>
          <a:p>
            <a:pPr marL="0" indent="0" algn="r">
              <a:spcBef>
                <a:spcPts val="300"/>
              </a:spcBef>
              <a:spcAft>
                <a:spcPts val="300"/>
              </a:spcAft>
              <a:buNone/>
            </a:pPr>
            <a:endParaRPr lang="en-IN" b="0" i="0" dirty="0">
              <a:solidFill>
                <a:srgbClr val="404040"/>
              </a:solidFill>
              <a:effectLst/>
              <a:latin typeface="Inter"/>
            </a:endParaRP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87B0B-1664-0DF9-4D83-F6F841A15915}"/>
              </a:ext>
            </a:extLst>
          </p:cNvPr>
          <p:cNvSpPr txBox="1"/>
          <p:nvPr/>
        </p:nvSpPr>
        <p:spPr>
          <a:xfrm>
            <a:off x="5617029" y="4391859"/>
            <a:ext cx="615999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Bef>
                <a:spcPts val="300"/>
              </a:spcBef>
            </a:pPr>
            <a:r>
              <a:rPr lang="en-IN" sz="2400" b="1" i="0" dirty="0">
                <a:solidFill>
                  <a:srgbClr val="404040"/>
                </a:solidFill>
                <a:effectLst/>
                <a:latin typeface="Inter"/>
              </a:rPr>
              <a:t>Team Members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Daniel Jacobsen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Balaji </a:t>
            </a:r>
            <a:r>
              <a:rPr lang="en-IN" sz="2400" b="0" i="0" dirty="0" err="1">
                <a:solidFill>
                  <a:srgbClr val="404040"/>
                </a:solidFill>
                <a:effectLst/>
                <a:latin typeface="Inter"/>
              </a:rPr>
              <a:t>Ginkal</a:t>
            </a: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 </a:t>
            </a:r>
            <a:r>
              <a:rPr lang="en-IN" sz="2400" b="0" i="0" dirty="0" err="1">
                <a:solidFill>
                  <a:srgbClr val="404040"/>
                </a:solidFill>
                <a:effectLst/>
                <a:latin typeface="Inter"/>
              </a:rPr>
              <a:t>Harisha</a:t>
            </a:r>
            <a:endParaRPr lang="en-IN" sz="2400" b="0" i="0" dirty="0">
              <a:solidFill>
                <a:srgbClr val="404040"/>
              </a:solidFill>
              <a:effectLst/>
              <a:latin typeface="Inter"/>
            </a:endParaRP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2400" b="0" i="0" dirty="0" err="1">
                <a:solidFill>
                  <a:srgbClr val="404040"/>
                </a:solidFill>
                <a:effectLst/>
                <a:latin typeface="Inter"/>
              </a:rPr>
              <a:t>Mohith</a:t>
            </a: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 Kumar </a:t>
            </a:r>
            <a:r>
              <a:rPr lang="en-IN" sz="2400" b="0" i="0" dirty="0" err="1">
                <a:solidFill>
                  <a:srgbClr val="404040"/>
                </a:solidFill>
                <a:effectLst/>
                <a:latin typeface="Inter"/>
              </a:rPr>
              <a:t>Bennahatti</a:t>
            </a: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 </a:t>
            </a:r>
            <a:r>
              <a:rPr lang="en-IN" sz="2400" b="0" i="0" dirty="0" err="1">
                <a:solidFill>
                  <a:srgbClr val="404040"/>
                </a:solidFill>
                <a:effectLst/>
                <a:latin typeface="Inter"/>
              </a:rPr>
              <a:t>Chikkegowda</a:t>
            </a:r>
            <a:endParaRPr lang="en-IN" sz="2400" b="0" i="0" dirty="0">
              <a:solidFill>
                <a:srgbClr val="404040"/>
              </a:solidFill>
              <a:effectLst/>
              <a:latin typeface="Inter"/>
            </a:endParaRP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2400" b="0" i="0" dirty="0">
                <a:solidFill>
                  <a:srgbClr val="404040"/>
                </a:solidFill>
                <a:effectLst/>
                <a:latin typeface="Inter"/>
              </a:rPr>
              <a:t>Akshaya Kudumalakunte Ravi Kumar</a:t>
            </a:r>
          </a:p>
        </p:txBody>
      </p:sp>
      <p:pic>
        <p:nvPicPr>
          <p:cNvPr id="6" name="Picture 5" descr="A white background with black text">
            <a:extLst>
              <a:ext uri="{FF2B5EF4-FFF2-40B4-BE49-F238E27FC236}">
                <a16:creationId xmlns:a16="http://schemas.microsoft.com/office/drawing/2014/main" id="{687BE353-32C6-C2BB-043A-0368F74148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652" y="532606"/>
            <a:ext cx="9915896" cy="16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26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79FB-B280-AE02-567C-4DE637D8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Table of Contents: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7FB6B-4794-C936-D9C2-63D7101CB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0982"/>
            <a:ext cx="10515600" cy="5237018"/>
          </a:xfrm>
        </p:spPr>
        <p:txBody>
          <a:bodyPr>
            <a:normAutofit fontScale="77500" lnSpcReduction="20000"/>
          </a:bodyPr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Introduction</a:t>
            </a:r>
          </a:p>
          <a:p>
            <a:r>
              <a:rPr lang="en-IN" b="1" i="0" dirty="0">
                <a:effectLst/>
                <a:latin typeface="Inter"/>
              </a:rPr>
              <a:t>AHB2APB Bridge Overview</a:t>
            </a:r>
          </a:p>
          <a:p>
            <a:r>
              <a:rPr lang="en-IN" b="1" i="0" dirty="0">
                <a:effectLst/>
                <a:latin typeface="Inter"/>
              </a:rPr>
              <a:t>AHB Bus Protocol</a:t>
            </a:r>
          </a:p>
          <a:p>
            <a:r>
              <a:rPr lang="en-IN" b="1" i="0" dirty="0">
                <a:effectLst/>
                <a:latin typeface="Inter"/>
              </a:rPr>
              <a:t>APB Bus Protocol</a:t>
            </a:r>
          </a:p>
          <a:p>
            <a:r>
              <a:rPr lang="en-US" b="1" kern="0" dirty="0">
                <a:effectLst/>
                <a:latin typeface="Inter"/>
                <a:ea typeface="Arial" panose="020B0604020202020204" pitchFamily="34" charset="0"/>
              </a:rPr>
              <a:t>AHB2APB</a:t>
            </a:r>
            <a:r>
              <a:rPr lang="en-US" b="1" kern="0" spc="-55" dirty="0">
                <a:effectLst/>
                <a:latin typeface="Inter"/>
                <a:ea typeface="Arial" panose="020B0604020202020204" pitchFamily="34" charset="0"/>
              </a:rPr>
              <a:t> </a:t>
            </a:r>
            <a:r>
              <a:rPr lang="en-US" b="1" kern="0" spc="-10" dirty="0">
                <a:effectLst/>
                <a:latin typeface="Inter"/>
                <a:ea typeface="Arial" panose="020B0604020202020204" pitchFamily="34" charset="0"/>
              </a:rPr>
              <a:t>Bridge</a:t>
            </a:r>
            <a:endParaRPr lang="en-IN" b="1" i="0" dirty="0">
              <a:effectLst/>
              <a:latin typeface="Inter"/>
            </a:endParaRPr>
          </a:p>
          <a:p>
            <a:r>
              <a:rPr lang="en-IN" b="1" i="0" dirty="0">
                <a:effectLst/>
                <a:latin typeface="Inter"/>
              </a:rPr>
              <a:t>AHB2APB Bridge Functionality</a:t>
            </a:r>
          </a:p>
          <a:p>
            <a:r>
              <a:rPr lang="en-US" b="1" dirty="0">
                <a:latin typeface="Inter"/>
              </a:rPr>
              <a:t>Read and Write Transfer</a:t>
            </a:r>
          </a:p>
          <a:p>
            <a:r>
              <a:rPr lang="en-IN" b="1" i="0" dirty="0">
                <a:effectLst/>
                <a:latin typeface="Inter"/>
              </a:rPr>
              <a:t>Verification Plan</a:t>
            </a:r>
          </a:p>
          <a:p>
            <a:r>
              <a:rPr lang="en-IN" b="1" i="0" dirty="0">
                <a:effectLst/>
                <a:latin typeface="Inter"/>
              </a:rPr>
              <a:t>UVM Testbench Architecture</a:t>
            </a:r>
          </a:p>
          <a:p>
            <a:r>
              <a:rPr lang="en-IN" b="1" i="0" dirty="0">
                <a:effectLst/>
                <a:latin typeface="Inter"/>
              </a:rPr>
              <a:t>Test Cases</a:t>
            </a:r>
          </a:p>
          <a:p>
            <a:r>
              <a:rPr lang="en-IN" b="1" i="0" dirty="0">
                <a:effectLst/>
                <a:latin typeface="Inter"/>
              </a:rPr>
              <a:t>Simulation Results</a:t>
            </a:r>
          </a:p>
          <a:p>
            <a:r>
              <a:rPr lang="en-US" b="1" dirty="0">
                <a:latin typeface="Inter"/>
              </a:rPr>
              <a:t>Coverage report</a:t>
            </a:r>
          </a:p>
          <a:p>
            <a:r>
              <a:rPr lang="en-IN" b="1" i="0" dirty="0">
                <a:effectLst/>
                <a:latin typeface="Inter"/>
              </a:rPr>
              <a:t>Conclusion</a:t>
            </a:r>
          </a:p>
          <a:p>
            <a:r>
              <a:rPr lang="en-IN" b="1" i="0" dirty="0">
                <a:effectLst/>
                <a:latin typeface="Inter"/>
              </a:rPr>
              <a:t>References</a:t>
            </a:r>
            <a:endParaRPr lang="en-IN" dirty="0"/>
          </a:p>
          <a:p>
            <a:endParaRPr lang="en-IN" b="1" i="0" dirty="0">
              <a:solidFill>
                <a:srgbClr val="404040"/>
              </a:solidFill>
              <a:effectLst/>
              <a:latin typeface="Inter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8651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22F90-7643-0595-24D9-E238F1ED6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AHB2APB Bridge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68EB4-2CBF-FA22-2D8C-1BB194DB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Purpose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Acts as an interface between AHB (Advanced High-Performance Bus) and APB (Advanced Peripheral Bus).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Converts AHB transactions to APB transactions.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US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Key Features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Handles synchronization, protocol adaptation, and control signals.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Supports pipelined AHB and non-pipelined APB protocols.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4118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9623-6FFD-25EA-999F-685D8205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i="0">
                <a:solidFill>
                  <a:srgbClr val="404040"/>
                </a:solidFill>
                <a:effectLst/>
                <a:latin typeface="Inter"/>
              </a:rPr>
              <a:t>AHB Bus Protocol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193F0-D962-84F0-BBCC-5AFC2147B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Features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High-performance, pipelined bus.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Supports burst transfers, split transactions, and single-cycle handover.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US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Key Signals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dirty="0">
                <a:effectLst/>
                <a:latin typeface="Arial MT"/>
                <a:ea typeface="Arial MT"/>
                <a:cs typeface="Arial MT"/>
              </a:rPr>
              <a:t>HCLK(Bus</a:t>
            </a:r>
            <a:r>
              <a:rPr lang="en-US" sz="1800" spc="-50" dirty="0">
                <a:effectLst/>
                <a:latin typeface="Arial MT"/>
                <a:ea typeface="Arial MT"/>
                <a:cs typeface="Arial MT"/>
              </a:rPr>
              <a:t> </a:t>
            </a: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clock)</a:t>
            </a:r>
            <a:endParaRPr lang="en-US" sz="1800" spc="-10" dirty="0">
              <a:solidFill>
                <a:srgbClr val="404040"/>
              </a:solidFill>
              <a:latin typeface="Inter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 err="1">
                <a:effectLst/>
                <a:latin typeface="Arial MT"/>
                <a:ea typeface="Arial MT"/>
                <a:cs typeface="Arial MT"/>
              </a:rPr>
              <a:t>HRESETn</a:t>
            </a:r>
            <a:endParaRPr lang="en-US" sz="1800" spc="-10" dirty="0">
              <a:effectLst/>
              <a:latin typeface="Arial MT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HADDR[31:0]</a:t>
            </a:r>
            <a:endParaRPr lang="en-US" sz="1400" spc="-10" dirty="0">
              <a:latin typeface="Arial MT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HWRITE[1:0]</a:t>
            </a:r>
            <a:r>
              <a:rPr lang="en-US" sz="1400" spc="-10" dirty="0">
                <a:effectLst/>
                <a:latin typeface="Arial MT"/>
                <a:ea typeface="Arial MT"/>
                <a:cs typeface="Arial MT"/>
              </a:rPr>
              <a:t> 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HBURST[2:0]</a:t>
            </a:r>
            <a:endParaRPr lang="en-US" sz="1400" spc="-10" dirty="0">
              <a:effectLst/>
              <a:latin typeface="Arial MT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HWDATA[31:0]</a:t>
            </a:r>
            <a:endParaRPr lang="en-US" sz="1400" spc="-10" dirty="0">
              <a:latin typeface="Arial MT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HRDATA[31:0]</a:t>
            </a:r>
            <a:endParaRPr lang="en-US" sz="1400" spc="-10" dirty="0">
              <a:effectLst/>
              <a:latin typeface="Arial MT"/>
              <a:ea typeface="Arial MT"/>
              <a:cs typeface="Arial MT"/>
            </a:endParaRP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HREADY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US" sz="1800" spc="-10" dirty="0">
                <a:effectLst/>
                <a:latin typeface="Arial MT"/>
                <a:ea typeface="Arial MT"/>
                <a:cs typeface="Arial MT"/>
              </a:rPr>
              <a:t>HRESP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0809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7F661-F133-0102-772E-ABCB7D91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APB Bus Protocol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C5A8C-81D7-CC5E-D87F-62E0C35FD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Features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Low-power, simple bus for peripherals.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Supports single-cycle read/write transactions.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US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Key Signals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lvl="1"/>
            <a:r>
              <a:rPr lang="en-IN" dirty="0"/>
              <a:t>PCLK</a:t>
            </a:r>
          </a:p>
          <a:p>
            <a:pPr lvl="1"/>
            <a:r>
              <a:rPr lang="en-IN" dirty="0" err="1"/>
              <a:t>PRESETn</a:t>
            </a:r>
            <a:endParaRPr lang="en-IN" dirty="0"/>
          </a:p>
          <a:p>
            <a:pPr lvl="1"/>
            <a:r>
              <a:rPr lang="en-IN" dirty="0"/>
              <a:t>PENABLE</a:t>
            </a:r>
          </a:p>
          <a:p>
            <a:pPr lvl="1"/>
            <a:r>
              <a:rPr lang="en-IN" dirty="0"/>
              <a:t>PWRITE</a:t>
            </a:r>
          </a:p>
          <a:p>
            <a:pPr lvl="1"/>
            <a:r>
              <a:rPr lang="en-IN" dirty="0"/>
              <a:t>PADDR</a:t>
            </a:r>
          </a:p>
          <a:p>
            <a:pPr lvl="1"/>
            <a:r>
              <a:rPr lang="en-IN" dirty="0"/>
              <a:t>PWDATA</a:t>
            </a:r>
          </a:p>
          <a:p>
            <a:pPr lvl="1"/>
            <a:r>
              <a:rPr lang="en-IN" dirty="0"/>
              <a:t>PRDATA</a:t>
            </a:r>
          </a:p>
          <a:p>
            <a:pPr lvl="1"/>
            <a:r>
              <a:rPr lang="en-IN" dirty="0"/>
              <a:t>PREADY</a:t>
            </a:r>
          </a:p>
        </p:txBody>
      </p:sp>
    </p:spTree>
    <p:extLst>
      <p:ext uri="{BB962C8B-B14F-4D97-AF65-F5344CB8AC3E}">
        <p14:creationId xmlns:p14="http://schemas.microsoft.com/office/powerpoint/2010/main" val="362394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6C95D-580E-A8CD-3C34-AB4658B3D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kern="0" dirty="0">
                <a:effectLst/>
                <a:latin typeface="Inter"/>
                <a:ea typeface="Arial" panose="020B0604020202020204" pitchFamily="34" charset="0"/>
              </a:rPr>
              <a:t>AHB2APB</a:t>
            </a:r>
            <a:r>
              <a:rPr lang="en-US" b="1" kern="0" spc="-55" dirty="0">
                <a:effectLst/>
                <a:latin typeface="Inter"/>
                <a:ea typeface="Arial" panose="020B0604020202020204" pitchFamily="34" charset="0"/>
              </a:rPr>
              <a:t> </a:t>
            </a:r>
            <a:r>
              <a:rPr lang="en-US" b="1" kern="0" spc="-10" dirty="0">
                <a:effectLst/>
                <a:latin typeface="Inter"/>
                <a:ea typeface="Arial" panose="020B0604020202020204" pitchFamily="34" charset="0"/>
              </a:rPr>
              <a:t>Bridge</a:t>
            </a:r>
            <a:endParaRPr lang="en-IN" dirty="0">
              <a:latin typeface="Inter"/>
            </a:endParaRPr>
          </a:p>
        </p:txBody>
      </p:sp>
      <p:pic>
        <p:nvPicPr>
          <p:cNvPr id="4" name="Image 4" descr="A diagram of a block diagram  Description automatically generated">
            <a:extLst>
              <a:ext uri="{FF2B5EF4-FFF2-40B4-BE49-F238E27FC236}">
                <a16:creationId xmlns:a16="http://schemas.microsoft.com/office/drawing/2014/main" id="{CCD4A927-78A5-D9DF-134A-895E85A17EA6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80361" y="1690688"/>
            <a:ext cx="6901841" cy="450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811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22BA7-2669-825B-747F-93C019E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AHB2APB Bridge Functionality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5B2F0-06A1-6CD7-F69D-7F3809FE5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Key Functions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Latches and decodes AHB addresses.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Generates PSEL signals for APB peripherals.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Converts AHB transactions to APB transactions.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Handles wait states for synchronization.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US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Write Transfer: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IN" dirty="0"/>
              <a:t>Converts HRDATA to PWDATA.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endParaRPr lang="en-IN" dirty="0"/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Read Transfer: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en-IN" dirty="0"/>
              <a:t>Converts PRDATA to HRDATA.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3812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80AFF-759D-8F10-CA42-700AD1B73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Inter"/>
              </a:rPr>
              <a:t>Read and Write Transfer</a:t>
            </a:r>
            <a:endParaRPr lang="en-IN" b="1" dirty="0">
              <a:latin typeface="Inter"/>
            </a:endParaRPr>
          </a:p>
        </p:txBody>
      </p:sp>
      <p:pic>
        <p:nvPicPr>
          <p:cNvPr id="4" name="Image 5" descr="A screenshot of a computer screen  Description automatically generated">
            <a:extLst>
              <a:ext uri="{FF2B5EF4-FFF2-40B4-BE49-F238E27FC236}">
                <a16:creationId xmlns:a16="http://schemas.microsoft.com/office/drawing/2014/main" id="{DCE183E2-C198-5EDC-3F6F-F92C8E7FABB2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457700" y="1829594"/>
            <a:ext cx="3809478" cy="478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23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3594A-44E4-ADA2-CBC3-89CAF5A97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Verification Plan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8EB0B-11D2-1931-C84E-CE019AB07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Verification Objectives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Ensure correct data transfer between AHB and APB.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Verify protocol compliance (AHB and APB).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Handle error conditions, and corner cases.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IN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Verification Levels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Top-level module verification for end-to-end functionality.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619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7E93-B87F-12CB-C668-D8DDDB31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UVM Testbench Architecture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A5A4D-2056-6CB8-2C22-7A5698EFB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UVM Components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AHB Agent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 Driver, Sequencer, Monitor.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APB Agent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 Driver, Sequencer, Monitor.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Scoreboard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 Compares expected vs. actual transactions.</a:t>
            </a:r>
          </a:p>
          <a:p>
            <a:pPr marL="457200" lvl="1" indent="0" algn="l">
              <a:spcBef>
                <a:spcPts val="300"/>
              </a:spcBef>
              <a:buNone/>
            </a:pPr>
            <a:endParaRPr lang="en-IN" dirty="0">
              <a:solidFill>
                <a:srgbClr val="404040"/>
              </a:solidFill>
              <a:latin typeface="Inter"/>
            </a:endParaRPr>
          </a:p>
          <a:p>
            <a:pPr marL="457200" lvl="1" indent="0" algn="l">
              <a:spcBef>
                <a:spcPts val="300"/>
              </a:spcBef>
              <a:buNone/>
            </a:pPr>
            <a:endParaRPr lang="en-IN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Verification Flow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Build → Connect → Run → Check → Report.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7411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F411C-0CBB-475E-F175-2C1A77A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Test Cases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96FD0-B502-0EB7-8081-611A18879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Test Types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Single Read/Write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Basic read/write operations.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Burst Read/Write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Burst mode transactions.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Corner Cases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Address boundary testing, error injection.</a:t>
            </a:r>
          </a:p>
        </p:txBody>
      </p:sp>
    </p:spTree>
    <p:extLst>
      <p:ext uri="{BB962C8B-B14F-4D97-AF65-F5344CB8AC3E}">
        <p14:creationId xmlns:p14="http://schemas.microsoft.com/office/powerpoint/2010/main" val="3976130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CC359-8957-B6C5-64B0-6695A8AC4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Simulation Results</a:t>
            </a:r>
            <a:endParaRPr lang="en-IN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8777055-0D45-215F-DAEF-F6DB821E7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9098"/>
          </a:xfrm>
        </p:spPr>
        <p:txBody>
          <a:bodyPr/>
          <a:lstStyle/>
          <a:p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Single Read/Write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Basic read/write operations.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665383-E1CB-1243-AD4F-1BA3E8BAB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617" y="2453574"/>
            <a:ext cx="3182528" cy="41194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5E8BE3-6BF6-480A-59F8-E7E07CDC2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938" y="2417719"/>
            <a:ext cx="2925032" cy="411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232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AF52-23F4-1C56-1C52-8FEFE409C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0A65F-5ADF-D054-0790-13CC24978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Simulation Results</a:t>
            </a:r>
            <a:endParaRPr lang="en-IN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678386E-3A72-EB49-CD36-7FA59138B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9098"/>
          </a:xfrm>
        </p:spPr>
        <p:txBody>
          <a:bodyPr/>
          <a:lstStyle/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Burst Read/Write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Burst mode transactions.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DF74DB-50DB-9FCA-C208-720E8022E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133" y="2422875"/>
            <a:ext cx="3316867" cy="39623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797EE6-FEEB-F50E-E83E-3B506FF08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26" y="2382962"/>
            <a:ext cx="3316868" cy="404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270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C95FE-A47C-1C07-8FA2-0872E558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A1C4-749E-7596-419F-A389BB66F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Simulation Results</a:t>
            </a:r>
            <a:endParaRPr lang="en-IN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07563E1-1A5F-8D67-ED83-73C203BCD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9098"/>
          </a:xfrm>
        </p:spPr>
        <p:txBody>
          <a:bodyPr/>
          <a:lstStyle/>
          <a:p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Corner Cases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Address boundary testing, error injection.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992A7-2EB4-95E9-143A-46B562314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7" y="2838660"/>
            <a:ext cx="2140060" cy="35307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7ACC22-2813-DD9A-FB4C-0C123AE0B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087" y="2838660"/>
            <a:ext cx="2057506" cy="35307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CBBFF1-74E7-E4EE-4CA5-542AFAADC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567" y="2838660"/>
            <a:ext cx="1987652" cy="30862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C4476E2-C466-E49D-3310-E7F70B6E7088}"/>
              </a:ext>
            </a:extLst>
          </p:cNvPr>
          <p:cNvSpPr txBox="1"/>
          <p:nvPr/>
        </p:nvSpPr>
        <p:spPr>
          <a:xfrm>
            <a:off x="518768" y="2469328"/>
            <a:ext cx="208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 Mismatch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A987E-A944-9CFA-65DA-CD8A4CCDB921}"/>
              </a:ext>
            </a:extLst>
          </p:cNvPr>
          <p:cNvSpPr txBox="1"/>
          <p:nvPr/>
        </p:nvSpPr>
        <p:spPr>
          <a:xfrm>
            <a:off x="4540567" y="2469328"/>
            <a:ext cx="2262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Dropped Transaction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6A2C97-F286-35B4-E5CD-6B43DAE1512C}"/>
              </a:ext>
            </a:extLst>
          </p:cNvPr>
          <p:cNvSpPr txBox="1"/>
          <p:nvPr/>
        </p:nvSpPr>
        <p:spPr>
          <a:xfrm>
            <a:off x="8332304" y="2484071"/>
            <a:ext cx="1844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Corruption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B6F74C-255E-107D-BC13-96A0AF7ACC48}"/>
              </a:ext>
            </a:extLst>
          </p:cNvPr>
          <p:cNvSpPr txBox="1"/>
          <p:nvPr/>
        </p:nvSpPr>
        <p:spPr>
          <a:xfrm>
            <a:off x="2709898" y="2979174"/>
            <a:ext cx="14079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-Added +4</a:t>
            </a:r>
          </a:p>
          <a:p>
            <a:r>
              <a:rPr lang="en-US" sz="1200" dirty="0"/>
              <a:t>- Scoreboard confirms 0 verified transactions and 2 unverified</a:t>
            </a:r>
          </a:p>
          <a:p>
            <a:r>
              <a:rPr lang="en-US" sz="1200" dirty="0"/>
              <a:t>- Printed transactions shows h85006177 and h8500617b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1A54E9-BB5A-CA7D-C355-F9EF924325C1}"/>
              </a:ext>
            </a:extLst>
          </p:cNvPr>
          <p:cNvSpPr txBox="1"/>
          <p:nvPr/>
        </p:nvSpPr>
        <p:spPr>
          <a:xfrm>
            <a:off x="10643616" y="2979174"/>
            <a:ext cx="13716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-Modifies HWDATA by XORing with 32’F</a:t>
            </a:r>
          </a:p>
          <a:p>
            <a:r>
              <a:rPr lang="en-US" sz="1200" dirty="0"/>
              <a:t>-Test values changes from h57b7e1b0 to ha8481e4f</a:t>
            </a:r>
          </a:p>
          <a:p>
            <a:r>
              <a:rPr lang="en-US" sz="1200" dirty="0"/>
              <a:t>-Verification vails because of corruption</a:t>
            </a:r>
          </a:p>
          <a:p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69F49-0F2C-989C-8619-B3F0FC26D142}"/>
              </a:ext>
            </a:extLst>
          </p:cNvPr>
          <p:cNvSpPr txBox="1"/>
          <p:nvPr/>
        </p:nvSpPr>
        <p:spPr>
          <a:xfrm>
            <a:off x="6702552" y="2979174"/>
            <a:ext cx="154533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-No finish items leaving the transaction “open”</a:t>
            </a:r>
          </a:p>
          <a:p>
            <a:r>
              <a:rPr lang="en-US" sz="1200" dirty="0"/>
              <a:t>-Driver never picks it up for execution.</a:t>
            </a:r>
          </a:p>
          <a:p>
            <a:r>
              <a:rPr lang="en-US" sz="1200" dirty="0"/>
              <a:t>-Verified with 0 packets and 0 verified transactions.</a:t>
            </a:r>
          </a:p>
          <a:p>
            <a:r>
              <a:rPr lang="en-US" sz="1200" dirty="0"/>
              <a:t>-Shows no false packets</a:t>
            </a:r>
          </a:p>
        </p:txBody>
      </p:sp>
    </p:spTree>
    <p:extLst>
      <p:ext uri="{BB962C8B-B14F-4D97-AF65-F5344CB8AC3E}">
        <p14:creationId xmlns:p14="http://schemas.microsoft.com/office/powerpoint/2010/main" val="261696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6544B-8058-386D-A3F0-4D9A87A85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23359-808D-A284-52CE-F63657B0A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Simulation Results</a:t>
            </a:r>
            <a:endParaRPr lang="en-IN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1748DEA-EB87-D2FC-D85A-7325CAF8E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8064"/>
            <a:ext cx="10515600" cy="519098"/>
          </a:xfrm>
        </p:spPr>
        <p:txBody>
          <a:bodyPr/>
          <a:lstStyle/>
          <a:p>
            <a:r>
              <a:rPr lang="en-US" b="1" i="0" dirty="0">
                <a:solidFill>
                  <a:srgbClr val="404040"/>
                </a:solidFill>
                <a:effectLst/>
                <a:latin typeface="Inter"/>
              </a:rPr>
              <a:t>Combined Cases</a:t>
            </a: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: Combined read/write and burst read/write.</a:t>
            </a:r>
          </a:p>
          <a:p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BF2B30D-66BE-3C95-1C08-90F134B89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19" y="1725414"/>
            <a:ext cx="7470048" cy="501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89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05AA8-E1F6-7444-5FE4-83E8CFC2C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Inter"/>
              </a:rPr>
              <a:t>Coverage report:</a:t>
            </a:r>
            <a:endParaRPr lang="en-IN" b="1" dirty="0">
              <a:latin typeface="Inter"/>
            </a:endParaRPr>
          </a:p>
        </p:txBody>
      </p:sp>
      <p:pic>
        <p:nvPicPr>
          <p:cNvPr id="7" name="Content Placeholder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C28C456-7438-4C74-08B5-AAD87E8151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508" y="1530709"/>
            <a:ext cx="5473874" cy="5272136"/>
          </a:xfrm>
        </p:spPr>
      </p:pic>
    </p:spTree>
    <p:extLst>
      <p:ext uri="{BB962C8B-B14F-4D97-AF65-F5344CB8AC3E}">
        <p14:creationId xmlns:p14="http://schemas.microsoft.com/office/powerpoint/2010/main" val="35959640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BAEE8-9FB0-4A6D-8441-D188DBA3F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A3EAB-47FF-5204-AB8C-691825ED3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Successfully designed and verified the AHB2APB bridge.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404040"/>
                </a:solidFill>
                <a:effectLst/>
                <a:latin typeface="Inter"/>
              </a:rPr>
              <a:t>Achieved high functional and code coverage.</a:t>
            </a:r>
          </a:p>
        </p:txBody>
      </p:sp>
    </p:spTree>
    <p:extLst>
      <p:ext uri="{BB962C8B-B14F-4D97-AF65-F5344CB8AC3E}">
        <p14:creationId xmlns:p14="http://schemas.microsoft.com/office/powerpoint/2010/main" val="3422592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D9372-AC99-BDCA-7D6C-207A920D7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References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6BC6E-E248-F726-3046-C67E92E24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GitHub Repositories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u="none" strike="noStrike" dirty="0">
                <a:solidFill>
                  <a:srgbClr val="404040"/>
                </a:solidFill>
                <a:effectLst/>
                <a:latin typeface="Inter"/>
                <a:hlinkClick r:id="rId2"/>
              </a:rPr>
              <a:t>AHB-to-APB-Bridge</a:t>
            </a:r>
            <a:endParaRPr lang="en-IN" b="0" i="0" dirty="0">
              <a:solidFill>
                <a:srgbClr val="404040"/>
              </a:solidFill>
              <a:effectLst/>
              <a:latin typeface="Inter"/>
            </a:endParaRP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u="none" strike="noStrike" dirty="0" err="1">
                <a:solidFill>
                  <a:srgbClr val="404040"/>
                </a:solidFill>
                <a:effectLst/>
                <a:latin typeface="Inter"/>
                <a:hlinkClick r:id="rId3"/>
              </a:rPr>
              <a:t>Pre_Silicon</a:t>
            </a:r>
            <a:r>
              <a:rPr lang="en-IN" b="0" i="0" u="none" strike="noStrike" dirty="0">
                <a:solidFill>
                  <a:srgbClr val="404040"/>
                </a:solidFill>
                <a:effectLst/>
                <a:latin typeface="Inter"/>
                <a:hlinkClick r:id="rId3"/>
              </a:rPr>
              <a:t>-AHB-</a:t>
            </a:r>
            <a:r>
              <a:rPr lang="en-IN" b="0" i="0" u="none" strike="noStrike" dirty="0" err="1">
                <a:solidFill>
                  <a:srgbClr val="404040"/>
                </a:solidFill>
                <a:effectLst/>
                <a:latin typeface="Inter"/>
                <a:hlinkClick r:id="rId3"/>
              </a:rPr>
              <a:t>to_APB</a:t>
            </a:r>
            <a:r>
              <a:rPr lang="en-IN" b="0" i="0" u="none" strike="noStrike" dirty="0">
                <a:solidFill>
                  <a:srgbClr val="404040"/>
                </a:solidFill>
                <a:effectLst/>
                <a:latin typeface="Inter"/>
                <a:hlinkClick r:id="rId3"/>
              </a:rPr>
              <a:t>-Verification</a:t>
            </a:r>
            <a:endParaRPr lang="en-IN" b="0" i="0" u="none" strike="noStrike" dirty="0">
              <a:solidFill>
                <a:srgbClr val="404040"/>
              </a:solidFill>
              <a:effectLst/>
              <a:latin typeface="Inter"/>
            </a:endParaRPr>
          </a:p>
          <a:p>
            <a:pPr marL="457200" lvl="1" indent="0" algn="l">
              <a:spcBef>
                <a:spcPts val="300"/>
              </a:spcBef>
              <a:buNone/>
            </a:pPr>
            <a:endParaRPr lang="en-IN" dirty="0">
              <a:solidFill>
                <a:srgbClr val="404040"/>
              </a:solidFill>
              <a:latin typeface="Inter"/>
            </a:endParaRPr>
          </a:p>
          <a:p>
            <a:pPr marL="457200" lvl="1" indent="0" algn="l">
              <a:spcBef>
                <a:spcPts val="300"/>
              </a:spcBef>
              <a:buNone/>
            </a:pPr>
            <a:endParaRPr lang="en-IN" b="0" i="0" dirty="0">
              <a:solidFill>
                <a:srgbClr val="404040"/>
              </a:solidFill>
              <a:effectLst/>
              <a:latin typeface="Inter"/>
            </a:endParaRP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1" i="0" dirty="0">
                <a:solidFill>
                  <a:srgbClr val="404040"/>
                </a:solidFill>
                <a:effectLst/>
                <a:latin typeface="Inter"/>
              </a:rPr>
              <a:t>Tools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:</a:t>
            </a:r>
          </a:p>
          <a:p>
            <a:pPr marL="742950" lvl="1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b="0" i="0" dirty="0" err="1">
                <a:solidFill>
                  <a:srgbClr val="404040"/>
                </a:solidFill>
                <a:effectLst/>
                <a:latin typeface="Inter"/>
              </a:rPr>
              <a:t>QuestaSim</a:t>
            </a:r>
            <a:r>
              <a:rPr lang="en-IN" b="0" i="0" dirty="0">
                <a:solidFill>
                  <a:srgbClr val="404040"/>
                </a:solidFill>
                <a:effectLst/>
                <a:latin typeface="Inter"/>
              </a:rPr>
              <a:t>, EDA Playground.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6658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543</Words>
  <Application>Microsoft Office PowerPoint</Application>
  <PresentationFormat>Widescreen</PresentationFormat>
  <Paragraphs>130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Arial MT</vt:lpstr>
      <vt:lpstr>Inter</vt:lpstr>
      <vt:lpstr>Office Theme</vt:lpstr>
      <vt:lpstr>PowerPoint Presentation</vt:lpstr>
      <vt:lpstr>Table of Contents:</vt:lpstr>
      <vt:lpstr>AHB2APB Bridge Overview</vt:lpstr>
      <vt:lpstr>AHB Bus Protocol</vt:lpstr>
      <vt:lpstr>APB Bus Protocol</vt:lpstr>
      <vt:lpstr>AHB2APB Bridge</vt:lpstr>
      <vt:lpstr>AHB2APB Bridge Functionality</vt:lpstr>
      <vt:lpstr>Read and Write Transfer</vt:lpstr>
      <vt:lpstr>Verification Plan</vt:lpstr>
      <vt:lpstr>UVM Testbench Architecture</vt:lpstr>
      <vt:lpstr>Test Cases</vt:lpstr>
      <vt:lpstr>Simulation Results</vt:lpstr>
      <vt:lpstr>Simulation Results</vt:lpstr>
      <vt:lpstr>Simulation Results</vt:lpstr>
      <vt:lpstr>Simulation Results</vt:lpstr>
      <vt:lpstr>Coverage report: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Akshaya Kudumalakunte Ravi Kumar</dc:creator>
  <cp:lastModifiedBy>Daniel Jacobsen</cp:lastModifiedBy>
  <cp:revision>5</cp:revision>
  <dcterms:created xsi:type="dcterms:W3CDTF">2025-03-04T21:52:59Z</dcterms:created>
  <dcterms:modified xsi:type="dcterms:W3CDTF">2025-03-05T07:37:52Z</dcterms:modified>
</cp:coreProperties>
</file>