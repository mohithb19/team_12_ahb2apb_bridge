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8" r:id="rId2"/>
    <p:sldId id="259" r:id="rId3"/>
    <p:sldId id="260" r:id="rId4"/>
    <p:sldId id="261" r:id="rId5"/>
    <p:sldId id="262" r:id="rId6"/>
    <p:sldId id="265" r:id="rId7"/>
    <p:sldId id="263" r:id="rId8"/>
    <p:sldId id="264" r:id="rId9"/>
    <p:sldId id="266" r:id="rId10"/>
    <p:sldId id="267" r:id="rId11"/>
    <p:sldId id="268" r:id="rId12"/>
    <p:sldId id="269" r:id="rId13"/>
    <p:sldId id="273" r:id="rId14"/>
    <p:sldId id="275" r:id="rId15"/>
    <p:sldId id="274" r:id="rId16"/>
    <p:sldId id="270" r:id="rId17"/>
    <p:sldId id="271" r:id="rId18"/>
    <p:sldId id="272" r:id="rId19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4995" autoAdjust="0"/>
    <p:restoredTop sz="94660"/>
  </p:normalViewPr>
  <p:slideViewPr>
    <p:cSldViewPr snapToGrid="0">
      <p:cViewPr varScale="1">
        <p:scale>
          <a:sx n="54" d="100"/>
          <a:sy n="54" d="100"/>
        </p:scale>
        <p:origin x="1148" y="5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F4ED4B-1236-E67C-B247-2E09199BD0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04C3D46-5687-43C9-E7B4-A5B7AED2CD7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0ACE26-02E3-97E1-5091-42FC9E4811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92C46-C0FD-43E2-9C94-0AB8FBDDE3F7}" type="datetimeFigureOut">
              <a:rPr lang="en-IN" smtClean="0"/>
              <a:t>04-03-2025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3AB2BF9-D45E-D20A-20AA-90378D2C0D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BD4B31D-0D4C-13EF-7E88-13583528BEB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4AD45-8242-4C71-9BC6-834E9207A3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1450956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545DB65-E850-3EC0-705E-9267CBC59DC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BFCB0FE-A7A7-A07A-FEDC-7C5DDBC80DE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C2748B7-FCA4-3F63-4AA6-400F4050C0F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92C46-C0FD-43E2-9C94-0AB8FBDDE3F7}" type="datetimeFigureOut">
              <a:rPr lang="en-IN" smtClean="0"/>
              <a:t>04-03-2025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AC5A4D-45B8-219A-6849-CA135FB657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B46F057-2540-608F-0F1B-B2C33C2F9F7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4AD45-8242-4C71-9BC6-834E9207A3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421331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C7F3996-6C28-560B-BA3F-10F17E9D4CD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91304B3-0E7C-F1D9-F3FC-87D60DBE6A3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8FBC3ED-A271-EBF5-3D15-C79A3B13D30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92C46-C0FD-43E2-9C94-0AB8FBDDE3F7}" type="datetimeFigureOut">
              <a:rPr lang="en-IN" smtClean="0"/>
              <a:t>04-03-2025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5EC935-4DC4-BE8B-227E-22E1052B1C0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F38F1C5-4D36-075A-01CD-7DA1B6926A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4AD45-8242-4C71-9BC6-834E9207A3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9710132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FDA245-342B-A3C1-A5E8-24838D21AB1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8ECCF8E-05A5-BB7F-4271-2FA7DF547EB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33C79FB0-9925-BAC4-3913-28B74F04900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B9022B-28F5-F1EB-E05A-298528C91C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92C46-C0FD-43E2-9C94-0AB8FBDDE3F7}" type="datetimeFigureOut">
              <a:rPr lang="en-IN" smtClean="0"/>
              <a:t>04-03-2025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2F6E308-CC53-44EF-4D94-8696EF032B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38CF77A-8F0A-E9E9-7F16-3ACC871134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4AD45-8242-4C71-9BC6-834E9207A3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1353466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D61B4D-C204-181E-3CD8-A2F87418182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B578906-5303-99B9-2167-A3C4F7D46F6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DF8066C-91D4-970A-52F3-EF1732514B1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52EF93E-89CA-E9D5-814A-E73CB50C0FA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692C2252-360B-DCDC-5EFB-52FB2866F3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15A4130A-2229-0315-83F9-A67535A35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92C46-C0FD-43E2-9C94-0AB8FBDDE3F7}" type="datetimeFigureOut">
              <a:rPr lang="en-IN" smtClean="0"/>
              <a:t>04-03-2025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3D2A13AE-D9C8-89C6-4FD5-A64EF42911B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E2FEA563-1F37-D807-D599-3069F1576E5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4AD45-8242-4C71-9BC6-834E9207A3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4118663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99CE825-D463-257D-BACA-193995039DA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D60B306-0101-3837-722F-D0EB66B9D5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92C46-C0FD-43E2-9C94-0AB8FBDDE3F7}" type="datetimeFigureOut">
              <a:rPr lang="en-IN" smtClean="0"/>
              <a:t>04-03-2025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427E982-E7B7-1F06-BC81-B58E89C85DF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46D50E8-562D-A4AF-0F4B-6D2557B4D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4AD45-8242-4C71-9BC6-834E9207A3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4630174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EF6C62C-BA2B-29CB-AB6B-46611A43C23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92C46-C0FD-43E2-9C94-0AB8FBDDE3F7}" type="datetimeFigureOut">
              <a:rPr lang="en-IN" smtClean="0"/>
              <a:t>04-03-2025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E88D40-67C6-6A97-576F-F9C3A7DCE74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AF5B17-7CF9-AD95-B013-A11BA099433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4AD45-8242-4C71-9BC6-834E9207A3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058856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7861A5-F5EA-2F93-0B15-911D2CB174E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9B28448-4666-DDAB-A065-911F102B7EE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5801E05A-4DCD-10D6-C9BA-1702A5EA993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457ECF2-547A-6FBE-68EC-CD94F789F92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92C46-C0FD-43E2-9C94-0AB8FBDDE3F7}" type="datetimeFigureOut">
              <a:rPr lang="en-IN" smtClean="0"/>
              <a:t>04-03-2025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1B19D43-C573-E604-670A-367C4BFA95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D301CEB-F1B5-A8F2-62B3-F9F27A65FF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4AD45-8242-4C71-9BC6-834E9207A3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3821901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8C8829-76F8-D5A1-2CD4-1308C3ACC26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4A1A7E3-E65F-FD45-C24B-6C879D49ADF9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A276960E-3447-0B1B-A226-76EAC8FBAAA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8734988-EE4C-FE09-3858-A5A51840D34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92C46-C0FD-43E2-9C94-0AB8FBDDE3F7}" type="datetimeFigureOut">
              <a:rPr lang="en-IN" smtClean="0"/>
              <a:t>04-03-2025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BEC073-4FE0-8EA2-4208-22C6C3B4A3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C57B80B-EECE-CA37-61B1-6E883CB1E5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4AD45-8242-4C71-9BC6-834E9207A3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10865463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8804C43-1A0A-BB21-43E8-48C3FE8AE6E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093937B-6B3C-C311-07DB-9045418F9E6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6D7DBC6-1231-3AE1-4CD5-0BD96B9F4E8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92C46-C0FD-43E2-9C94-0AB8FBDDE3F7}" type="datetimeFigureOut">
              <a:rPr lang="en-IN" smtClean="0"/>
              <a:t>04-03-2025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7D7397A-4CC2-EB7F-CCAE-AA5335F033C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6660AA0-EE7C-B4EC-3D9B-6869C33845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4AD45-8242-4C71-9BC6-834E9207A3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02871017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B2915C0-BF8E-6914-1013-5CD8BFCC62D4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A68BEA3-2AF5-0F36-1B32-CB6AE361ED57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11E7BD-19A0-F29C-FFF8-3415B05B80F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F392C46-C0FD-43E2-9C94-0AB8FBDDE3F7}" type="datetimeFigureOut">
              <a:rPr lang="en-IN" smtClean="0"/>
              <a:t>04-03-2025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F046714-D64B-2E5D-A7B9-200801555D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472F60-F955-83B6-CFDA-2DA44366C8C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2D4AD45-8242-4C71-9BC6-834E9207A3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2827955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0869EBA-DC05-F725-2A6E-CFDE303EC1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B982612-E749-66BE-B724-3931A604A9A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96B1FE0-ECB9-7C85-9CD4-2BC1D925D15C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F392C46-C0FD-43E2-9C94-0AB8FBDDE3F7}" type="datetimeFigureOut">
              <a:rPr lang="en-IN" smtClean="0"/>
              <a:t>04-03-2025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2A532925-F9E8-68AE-9B59-9C7ADCB8D920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AEE3F-A783-7F93-A221-BE36058FC2B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42D4AD45-8242-4C71-9BC6-834E9207A3A1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1437749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0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s://github.com/Ghonimo/Pre_Silicon-AHB-to_APB-Verification" TargetMode="External"/><Relationship Id="rId2" Type="http://schemas.openxmlformats.org/officeDocument/2006/relationships/hyperlink" Target="https://github.com/prajwalgekkouga/AHB-to-APB-Bridge" TargetMode="Externa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6676A48-9A7E-02D8-9AB4-95E12AB48B4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 algn="ctr">
              <a:buNone/>
            </a:pPr>
            <a:endParaRPr lang="en-US" b="0" i="0" dirty="0">
              <a:solidFill>
                <a:srgbClr val="404040"/>
              </a:solidFill>
              <a:effectLst/>
              <a:latin typeface="Inter"/>
            </a:endParaRPr>
          </a:p>
          <a:p>
            <a:pPr marL="0" indent="0" algn="ctr">
              <a:buNone/>
            </a:pPr>
            <a:br>
              <a:rPr lang="en-US" dirty="0">
                <a:solidFill>
                  <a:srgbClr val="404040"/>
                </a:solidFill>
                <a:latin typeface="Inter"/>
              </a:rPr>
            </a:br>
            <a:r>
              <a:rPr lang="en-US" sz="3200" b="1" i="0" dirty="0">
                <a:solidFill>
                  <a:srgbClr val="404040"/>
                </a:solidFill>
                <a:effectLst/>
                <a:latin typeface="Inter"/>
              </a:rPr>
              <a:t>Design and Verification of AHB2APB Bridge using UVM</a:t>
            </a:r>
          </a:p>
          <a:p>
            <a:pPr marL="0" indent="0" algn="ctr">
              <a:buNone/>
            </a:pPr>
            <a:r>
              <a:rPr lang="en-US" sz="3200" b="1" i="0" dirty="0">
                <a:solidFill>
                  <a:srgbClr val="404040"/>
                </a:solidFill>
                <a:effectLst/>
                <a:latin typeface="Inter"/>
              </a:rPr>
              <a:t> ECE593 – Fundamentals of Pre-Silicon Validation</a:t>
            </a:r>
            <a:endParaRPr lang="en-US" sz="3200" b="1" dirty="0">
              <a:solidFill>
                <a:srgbClr val="404040"/>
              </a:solidFill>
              <a:latin typeface="Inter"/>
            </a:endParaRPr>
          </a:p>
          <a:p>
            <a:pPr marL="0" indent="0">
              <a:buNone/>
            </a:pPr>
            <a:endParaRPr lang="en-US" dirty="0">
              <a:solidFill>
                <a:srgbClr val="404040"/>
              </a:solidFill>
              <a:latin typeface="Inter"/>
            </a:endParaRPr>
          </a:p>
          <a:p>
            <a:pPr marL="0" indent="0" algn="r">
              <a:spcBef>
                <a:spcPts val="300"/>
              </a:spcBef>
              <a:spcAft>
                <a:spcPts val="300"/>
              </a:spcAft>
              <a:buNone/>
            </a:pPr>
            <a:endParaRPr lang="en-IN" b="0" i="0" dirty="0">
              <a:solidFill>
                <a:srgbClr val="404040"/>
              </a:solidFill>
              <a:effectLst/>
              <a:latin typeface="Inter"/>
            </a:endParaRPr>
          </a:p>
          <a:p>
            <a:pPr marL="0" indent="0">
              <a:buNone/>
            </a:pPr>
            <a:endParaRPr lang="en-IN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12A87B0B-1664-0DF9-4D83-F6F841A15915}"/>
              </a:ext>
            </a:extLst>
          </p:cNvPr>
          <p:cNvSpPr txBox="1"/>
          <p:nvPr/>
        </p:nvSpPr>
        <p:spPr>
          <a:xfrm>
            <a:off x="5617029" y="4391859"/>
            <a:ext cx="6159997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1">
              <a:spcBef>
                <a:spcPts val="300"/>
              </a:spcBef>
            </a:pPr>
            <a:r>
              <a:rPr lang="en-IN" sz="2400" b="1" i="0" dirty="0">
                <a:solidFill>
                  <a:srgbClr val="404040"/>
                </a:solidFill>
                <a:effectLst/>
                <a:latin typeface="Inter"/>
              </a:rPr>
              <a:t>Team Members</a:t>
            </a: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404040"/>
                </a:solidFill>
                <a:effectLst/>
                <a:latin typeface="Inter"/>
              </a:rPr>
              <a:t>Daniel Jacobsen</a:t>
            </a: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404040"/>
                </a:solidFill>
                <a:effectLst/>
                <a:latin typeface="Inter"/>
              </a:rPr>
              <a:t>Balaji </a:t>
            </a:r>
            <a:r>
              <a:rPr lang="en-IN" sz="2400" b="0" i="0" dirty="0" err="1">
                <a:solidFill>
                  <a:srgbClr val="404040"/>
                </a:solidFill>
                <a:effectLst/>
                <a:latin typeface="Inter"/>
              </a:rPr>
              <a:t>Ginkal</a:t>
            </a:r>
            <a:r>
              <a:rPr lang="en-IN" sz="2400" b="0" i="0" dirty="0">
                <a:solidFill>
                  <a:srgbClr val="404040"/>
                </a:solidFill>
                <a:effectLst/>
                <a:latin typeface="Inter"/>
              </a:rPr>
              <a:t> </a:t>
            </a:r>
            <a:r>
              <a:rPr lang="en-IN" sz="2400" b="0" i="0" dirty="0" err="1">
                <a:solidFill>
                  <a:srgbClr val="404040"/>
                </a:solidFill>
                <a:effectLst/>
                <a:latin typeface="Inter"/>
              </a:rPr>
              <a:t>Harisha</a:t>
            </a:r>
            <a:endParaRPr lang="en-IN" sz="2400" b="0" i="0" dirty="0">
              <a:solidFill>
                <a:srgbClr val="404040"/>
              </a:solidFill>
              <a:effectLst/>
              <a:latin typeface="Inter"/>
            </a:endParaRP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2400" b="0" i="0" dirty="0" err="1">
                <a:solidFill>
                  <a:srgbClr val="404040"/>
                </a:solidFill>
                <a:effectLst/>
                <a:latin typeface="Inter"/>
              </a:rPr>
              <a:t>Mohith</a:t>
            </a:r>
            <a:r>
              <a:rPr lang="en-IN" sz="2400" b="0" i="0" dirty="0">
                <a:solidFill>
                  <a:srgbClr val="404040"/>
                </a:solidFill>
                <a:effectLst/>
                <a:latin typeface="Inter"/>
              </a:rPr>
              <a:t> Kumar </a:t>
            </a:r>
            <a:r>
              <a:rPr lang="en-IN" sz="2400" b="0" i="0" dirty="0" err="1">
                <a:solidFill>
                  <a:srgbClr val="404040"/>
                </a:solidFill>
                <a:effectLst/>
                <a:latin typeface="Inter"/>
              </a:rPr>
              <a:t>Bennahatti</a:t>
            </a:r>
            <a:r>
              <a:rPr lang="en-IN" sz="2400" b="0" i="0" dirty="0">
                <a:solidFill>
                  <a:srgbClr val="404040"/>
                </a:solidFill>
                <a:effectLst/>
                <a:latin typeface="Inter"/>
              </a:rPr>
              <a:t> </a:t>
            </a:r>
            <a:r>
              <a:rPr lang="en-IN" sz="2400" b="0" i="0" dirty="0" err="1">
                <a:solidFill>
                  <a:srgbClr val="404040"/>
                </a:solidFill>
                <a:effectLst/>
                <a:latin typeface="Inter"/>
              </a:rPr>
              <a:t>Chikkegowda</a:t>
            </a:r>
            <a:endParaRPr lang="en-IN" sz="2400" b="0" i="0" dirty="0">
              <a:solidFill>
                <a:srgbClr val="404040"/>
              </a:solidFill>
              <a:effectLst/>
              <a:latin typeface="Inter"/>
            </a:endParaRPr>
          </a:p>
          <a:p>
            <a:pPr marL="742950" lvl="1" indent="-285750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sz="2400" b="0" i="0" dirty="0">
                <a:solidFill>
                  <a:srgbClr val="404040"/>
                </a:solidFill>
                <a:effectLst/>
                <a:latin typeface="Inter"/>
              </a:rPr>
              <a:t>Akshaya Kudumalakunte Ravi Kumar</a:t>
            </a:r>
          </a:p>
        </p:txBody>
      </p:sp>
      <p:pic>
        <p:nvPicPr>
          <p:cNvPr id="6" name="Picture 5" descr="A white background with black text">
            <a:extLst>
              <a:ext uri="{FF2B5EF4-FFF2-40B4-BE49-F238E27FC236}">
                <a16:creationId xmlns:a16="http://schemas.microsoft.com/office/drawing/2014/main" id="{687BE353-32C6-C2BB-043A-0368F741489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80652" y="532606"/>
            <a:ext cx="9915896" cy="161682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2522661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A1179FB-B280-AE02-567C-4DE637D893D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Table of Contents:</a:t>
            </a:r>
            <a:endParaRPr lang="en-IN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A07FB6B-4794-C936-D9C2-63D7101CB65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620982"/>
            <a:ext cx="10515600" cy="5237018"/>
          </a:xfrm>
        </p:spPr>
        <p:txBody>
          <a:bodyPr>
            <a:normAutofit fontScale="77500" lnSpcReduction="20000"/>
          </a:bodyPr>
          <a:lstStyle/>
          <a:p>
            <a:r>
              <a:rPr lang="en-IN" b="1" i="0" dirty="0">
                <a:solidFill>
                  <a:srgbClr val="404040"/>
                </a:solidFill>
                <a:effectLst/>
                <a:latin typeface="Inter"/>
              </a:rPr>
              <a:t>Introduction</a:t>
            </a:r>
          </a:p>
          <a:p>
            <a:r>
              <a:rPr lang="en-IN" b="1" i="0" dirty="0">
                <a:effectLst/>
                <a:latin typeface="Inter"/>
              </a:rPr>
              <a:t>AHB2APB Bridge Overview</a:t>
            </a:r>
          </a:p>
          <a:p>
            <a:r>
              <a:rPr lang="en-IN" b="1" i="0" dirty="0">
                <a:effectLst/>
                <a:latin typeface="Inter"/>
              </a:rPr>
              <a:t>AHB Bus Protocol</a:t>
            </a:r>
          </a:p>
          <a:p>
            <a:r>
              <a:rPr lang="en-IN" b="1" i="0" dirty="0">
                <a:effectLst/>
                <a:latin typeface="Inter"/>
              </a:rPr>
              <a:t>APB Bus Protocol</a:t>
            </a:r>
          </a:p>
          <a:p>
            <a:r>
              <a:rPr lang="en-US" b="1" kern="0" dirty="0">
                <a:effectLst/>
                <a:latin typeface="Inter"/>
                <a:ea typeface="Arial" panose="020B0604020202020204" pitchFamily="34" charset="0"/>
              </a:rPr>
              <a:t>AHB2APB</a:t>
            </a:r>
            <a:r>
              <a:rPr lang="en-US" b="1" kern="0" spc="-55" dirty="0">
                <a:effectLst/>
                <a:latin typeface="Inter"/>
                <a:ea typeface="Arial" panose="020B0604020202020204" pitchFamily="34" charset="0"/>
              </a:rPr>
              <a:t> </a:t>
            </a:r>
            <a:r>
              <a:rPr lang="en-US" b="1" kern="0" spc="-10" dirty="0">
                <a:effectLst/>
                <a:latin typeface="Inter"/>
                <a:ea typeface="Arial" panose="020B0604020202020204" pitchFamily="34" charset="0"/>
              </a:rPr>
              <a:t>Bridge</a:t>
            </a:r>
            <a:endParaRPr lang="en-IN" b="1" i="0" dirty="0">
              <a:effectLst/>
              <a:latin typeface="Inter"/>
            </a:endParaRPr>
          </a:p>
          <a:p>
            <a:r>
              <a:rPr lang="en-IN" b="1" i="0" dirty="0">
                <a:effectLst/>
                <a:latin typeface="Inter"/>
              </a:rPr>
              <a:t>AHB2APB Bridge Functionality</a:t>
            </a:r>
          </a:p>
          <a:p>
            <a:r>
              <a:rPr lang="en-US" b="1" dirty="0">
                <a:latin typeface="Inter"/>
              </a:rPr>
              <a:t>Read and Write Transfer</a:t>
            </a:r>
          </a:p>
          <a:p>
            <a:r>
              <a:rPr lang="en-IN" b="1" i="0" dirty="0">
                <a:effectLst/>
                <a:latin typeface="Inter"/>
              </a:rPr>
              <a:t>Verification Plan</a:t>
            </a:r>
          </a:p>
          <a:p>
            <a:r>
              <a:rPr lang="en-IN" b="1" i="0" dirty="0">
                <a:effectLst/>
                <a:latin typeface="Inter"/>
              </a:rPr>
              <a:t>UVM Testbench Architecture</a:t>
            </a:r>
          </a:p>
          <a:p>
            <a:r>
              <a:rPr lang="en-IN" b="1" i="0" dirty="0">
                <a:effectLst/>
                <a:latin typeface="Inter"/>
              </a:rPr>
              <a:t>Test Cases</a:t>
            </a:r>
          </a:p>
          <a:p>
            <a:r>
              <a:rPr lang="en-IN" b="1" i="0" dirty="0">
                <a:effectLst/>
                <a:latin typeface="Inter"/>
              </a:rPr>
              <a:t>Simulation Results</a:t>
            </a:r>
          </a:p>
          <a:p>
            <a:r>
              <a:rPr lang="en-US" b="1" dirty="0">
                <a:latin typeface="Inter"/>
              </a:rPr>
              <a:t>Coverage report</a:t>
            </a:r>
          </a:p>
          <a:p>
            <a:r>
              <a:rPr lang="en-IN" b="1" i="0" dirty="0">
                <a:effectLst/>
                <a:latin typeface="Inter"/>
              </a:rPr>
              <a:t>Conclusion</a:t>
            </a:r>
          </a:p>
          <a:p>
            <a:r>
              <a:rPr lang="en-IN" b="1" i="0" dirty="0">
                <a:effectLst/>
                <a:latin typeface="Inter"/>
              </a:rPr>
              <a:t>References</a:t>
            </a:r>
            <a:endParaRPr lang="en-IN" dirty="0"/>
          </a:p>
          <a:p>
            <a:endParaRPr lang="en-IN" b="1" i="0" dirty="0">
              <a:solidFill>
                <a:srgbClr val="404040"/>
              </a:solidFill>
              <a:effectLst/>
              <a:latin typeface="Inter"/>
            </a:endParaRP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45865174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122F90-7643-0595-24D9-E238F1ED6F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404040"/>
                </a:solidFill>
                <a:effectLst/>
                <a:latin typeface="Inter"/>
              </a:rPr>
              <a:t>AHB2APB Bridge Overview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168EB4-2CBF-FA22-2D8C-1BB194DB076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04040"/>
                </a:solidFill>
                <a:effectLst/>
                <a:latin typeface="Inter"/>
              </a:rPr>
              <a:t>Purpose</a:t>
            </a: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Acts as an interface between AHB (Advanced High-Performance Bus) and APB (Advanced Peripheral Bus).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Converts AHB transactions to APB transactions.</a:t>
            </a:r>
          </a:p>
          <a:p>
            <a:pPr marL="457200" lvl="1" indent="0" algn="l">
              <a:spcBef>
                <a:spcPts val="300"/>
              </a:spcBef>
              <a:buNone/>
            </a:pPr>
            <a:endParaRPr lang="en-US" b="0" i="0" dirty="0">
              <a:solidFill>
                <a:srgbClr val="404040"/>
              </a:solidFill>
              <a:effectLst/>
              <a:latin typeface="Inter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04040"/>
                </a:solidFill>
                <a:effectLst/>
                <a:latin typeface="Inter"/>
              </a:rPr>
              <a:t>Key Features</a:t>
            </a: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Handles synchronization, protocol adaptation, and control signals.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Supports pipelined AHB and non-pipelined APB protocols.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77411867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79623-6FFD-25EA-999F-685D8205A43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IN" b="1" i="0">
                <a:solidFill>
                  <a:srgbClr val="404040"/>
                </a:solidFill>
                <a:effectLst/>
                <a:latin typeface="Inter"/>
              </a:rPr>
              <a:t>AHB Bus Protocol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EE193F0-D962-84F0-BBCC-5AFC2147B8A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pPr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04040"/>
                </a:solidFill>
                <a:effectLst/>
                <a:latin typeface="Inter"/>
              </a:rPr>
              <a:t>Features</a:t>
            </a: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High-performance, pipelined bus.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Supports burst transfers, split transactions, and single-cycle handover.</a:t>
            </a:r>
          </a:p>
          <a:p>
            <a:pPr marL="457200" lvl="1" indent="0" algn="l">
              <a:spcBef>
                <a:spcPts val="300"/>
              </a:spcBef>
              <a:buNone/>
            </a:pPr>
            <a:endParaRPr lang="en-US" b="0" i="0" dirty="0">
              <a:solidFill>
                <a:srgbClr val="404040"/>
              </a:solidFill>
              <a:effectLst/>
              <a:latin typeface="Inter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04040"/>
                </a:solidFill>
                <a:effectLst/>
                <a:latin typeface="Inter"/>
              </a:rPr>
              <a:t>Key Signals</a:t>
            </a: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: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1800" dirty="0">
                <a:effectLst/>
                <a:latin typeface="Arial MT"/>
                <a:ea typeface="Arial MT"/>
                <a:cs typeface="Arial MT"/>
              </a:rPr>
              <a:t>HCLK(Bus</a:t>
            </a:r>
            <a:r>
              <a:rPr lang="en-US" sz="1800" spc="-50" dirty="0">
                <a:effectLst/>
                <a:latin typeface="Arial MT"/>
                <a:ea typeface="Arial MT"/>
                <a:cs typeface="Arial MT"/>
              </a:rPr>
              <a:t> </a:t>
            </a:r>
            <a:r>
              <a:rPr lang="en-US" sz="1800" spc="-10" dirty="0">
                <a:effectLst/>
                <a:latin typeface="Arial MT"/>
                <a:ea typeface="Arial MT"/>
                <a:cs typeface="Arial MT"/>
              </a:rPr>
              <a:t>clock)</a:t>
            </a:r>
            <a:endParaRPr lang="en-US" sz="1800" spc="-10" dirty="0">
              <a:solidFill>
                <a:srgbClr val="404040"/>
              </a:solidFill>
              <a:latin typeface="Inter"/>
              <a:ea typeface="Arial MT"/>
              <a:cs typeface="Arial MT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1800" spc="-10" dirty="0" err="1">
                <a:effectLst/>
                <a:latin typeface="Arial MT"/>
                <a:ea typeface="Arial MT"/>
                <a:cs typeface="Arial MT"/>
              </a:rPr>
              <a:t>HRESETn</a:t>
            </a:r>
            <a:endParaRPr lang="en-US" sz="1800" spc="-10" dirty="0">
              <a:effectLst/>
              <a:latin typeface="Arial MT"/>
              <a:ea typeface="Arial MT"/>
              <a:cs typeface="Arial MT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1800" spc="-10" dirty="0">
                <a:effectLst/>
                <a:latin typeface="Arial MT"/>
                <a:ea typeface="Arial MT"/>
                <a:cs typeface="Arial MT"/>
              </a:rPr>
              <a:t>HADDR[31:0]</a:t>
            </a:r>
            <a:endParaRPr lang="en-US" sz="1400" spc="-10" dirty="0">
              <a:latin typeface="Arial MT"/>
              <a:ea typeface="Arial MT"/>
              <a:cs typeface="Arial MT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1800" spc="-10" dirty="0">
                <a:effectLst/>
                <a:latin typeface="Arial MT"/>
                <a:ea typeface="Arial MT"/>
                <a:cs typeface="Arial MT"/>
              </a:rPr>
              <a:t>HWRITE[1:0]</a:t>
            </a:r>
            <a:r>
              <a:rPr lang="en-US" sz="1400" spc="-10" dirty="0">
                <a:effectLst/>
                <a:latin typeface="Arial MT"/>
                <a:ea typeface="Arial MT"/>
                <a:cs typeface="Arial MT"/>
              </a:rPr>
              <a:t> 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1800" spc="-10" dirty="0">
                <a:effectLst/>
                <a:latin typeface="Arial MT"/>
                <a:ea typeface="Arial MT"/>
                <a:cs typeface="Arial MT"/>
              </a:rPr>
              <a:t>HBURST[2:0]</a:t>
            </a:r>
            <a:endParaRPr lang="en-US" sz="1400" spc="-10" dirty="0">
              <a:effectLst/>
              <a:latin typeface="Arial MT"/>
              <a:ea typeface="Arial MT"/>
              <a:cs typeface="Arial MT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1800" spc="-10" dirty="0">
                <a:effectLst/>
                <a:latin typeface="Arial MT"/>
                <a:ea typeface="Arial MT"/>
                <a:cs typeface="Arial MT"/>
              </a:rPr>
              <a:t>HWDATA[31:0]</a:t>
            </a:r>
            <a:endParaRPr lang="en-US" sz="1400" spc="-10" dirty="0">
              <a:latin typeface="Arial MT"/>
              <a:ea typeface="Arial MT"/>
              <a:cs typeface="Arial MT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1800" spc="-10" dirty="0">
                <a:effectLst/>
                <a:latin typeface="Arial MT"/>
                <a:ea typeface="Arial MT"/>
                <a:cs typeface="Arial MT"/>
              </a:rPr>
              <a:t>HRDATA[31:0]</a:t>
            </a:r>
            <a:endParaRPr lang="en-US" sz="1400" spc="-10" dirty="0">
              <a:effectLst/>
              <a:latin typeface="Arial MT"/>
              <a:ea typeface="Arial MT"/>
              <a:cs typeface="Arial MT"/>
            </a:endParaRP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1800" spc="-10" dirty="0">
                <a:effectLst/>
                <a:latin typeface="Arial MT"/>
                <a:ea typeface="Arial MT"/>
                <a:cs typeface="Arial MT"/>
              </a:rPr>
              <a:t>HREADY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US" sz="1800" spc="-10" dirty="0">
                <a:effectLst/>
                <a:latin typeface="Arial MT"/>
                <a:ea typeface="Arial MT"/>
                <a:cs typeface="Arial MT"/>
              </a:rPr>
              <a:t>HRESP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78080992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37F661-F133-0102-772E-ABCB7D91E4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404040"/>
                </a:solidFill>
                <a:effectLst/>
                <a:latin typeface="Inter"/>
              </a:rPr>
              <a:t>APB Bus Protocol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DFC5A8C-81D7-CC5E-D87F-62E0C35FDAA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pPr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04040"/>
                </a:solidFill>
                <a:effectLst/>
                <a:latin typeface="Inter"/>
              </a:rPr>
              <a:t>Features</a:t>
            </a: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Low-power, simple bus for peripherals.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Supports single-cycle read/write transactions.</a:t>
            </a:r>
          </a:p>
          <a:p>
            <a:pPr marL="457200" lvl="1" indent="0" algn="l">
              <a:spcBef>
                <a:spcPts val="300"/>
              </a:spcBef>
              <a:buNone/>
            </a:pPr>
            <a:endParaRPr lang="en-US" b="0" i="0" dirty="0">
              <a:solidFill>
                <a:srgbClr val="404040"/>
              </a:solidFill>
              <a:effectLst/>
              <a:latin typeface="Inter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04040"/>
                </a:solidFill>
                <a:effectLst/>
                <a:latin typeface="Inter"/>
              </a:rPr>
              <a:t>Key Signals</a:t>
            </a: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:</a:t>
            </a:r>
          </a:p>
          <a:p>
            <a:pPr lvl="1"/>
            <a:r>
              <a:rPr lang="en-IN" dirty="0"/>
              <a:t>PCLK</a:t>
            </a:r>
          </a:p>
          <a:p>
            <a:pPr lvl="1"/>
            <a:r>
              <a:rPr lang="en-IN" dirty="0" err="1"/>
              <a:t>PRESETn</a:t>
            </a:r>
            <a:endParaRPr lang="en-IN" dirty="0"/>
          </a:p>
          <a:p>
            <a:pPr lvl="1"/>
            <a:r>
              <a:rPr lang="en-IN" dirty="0"/>
              <a:t>PENABLE</a:t>
            </a:r>
          </a:p>
          <a:p>
            <a:pPr lvl="1"/>
            <a:r>
              <a:rPr lang="en-IN" dirty="0"/>
              <a:t>PWRITE</a:t>
            </a:r>
          </a:p>
          <a:p>
            <a:pPr lvl="1"/>
            <a:r>
              <a:rPr lang="en-IN" dirty="0"/>
              <a:t>PADDR</a:t>
            </a:r>
          </a:p>
          <a:p>
            <a:pPr lvl="1"/>
            <a:r>
              <a:rPr lang="en-IN" dirty="0"/>
              <a:t>PWDATA</a:t>
            </a:r>
          </a:p>
          <a:p>
            <a:pPr lvl="1"/>
            <a:r>
              <a:rPr lang="en-IN" dirty="0"/>
              <a:t>PRDATA</a:t>
            </a:r>
          </a:p>
          <a:p>
            <a:pPr lvl="1"/>
            <a:r>
              <a:rPr lang="en-IN" dirty="0"/>
              <a:t>PREADY</a:t>
            </a:r>
          </a:p>
        </p:txBody>
      </p:sp>
    </p:spTree>
    <p:extLst>
      <p:ext uri="{BB962C8B-B14F-4D97-AF65-F5344CB8AC3E}">
        <p14:creationId xmlns:p14="http://schemas.microsoft.com/office/powerpoint/2010/main" val="36239421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206C95D-580E-A8CD-3C34-AB4658B3D60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b="1" kern="0" dirty="0">
                <a:effectLst/>
                <a:latin typeface="Inter"/>
                <a:ea typeface="Arial" panose="020B0604020202020204" pitchFamily="34" charset="0"/>
              </a:rPr>
              <a:t>AHB2APB</a:t>
            </a:r>
            <a:r>
              <a:rPr lang="en-US" b="1" kern="0" spc="-55" dirty="0">
                <a:effectLst/>
                <a:latin typeface="Inter"/>
                <a:ea typeface="Arial" panose="020B0604020202020204" pitchFamily="34" charset="0"/>
              </a:rPr>
              <a:t> </a:t>
            </a:r>
            <a:r>
              <a:rPr lang="en-US" b="1" kern="0" spc="-10" dirty="0">
                <a:effectLst/>
                <a:latin typeface="Inter"/>
                <a:ea typeface="Arial" panose="020B0604020202020204" pitchFamily="34" charset="0"/>
              </a:rPr>
              <a:t>Bridge</a:t>
            </a:r>
            <a:endParaRPr lang="en-IN" dirty="0">
              <a:latin typeface="Inter"/>
            </a:endParaRPr>
          </a:p>
        </p:txBody>
      </p:sp>
      <p:pic>
        <p:nvPicPr>
          <p:cNvPr id="4" name="Image 4" descr="A diagram of a block diagram  Description automatically generated">
            <a:extLst>
              <a:ext uri="{FF2B5EF4-FFF2-40B4-BE49-F238E27FC236}">
                <a16:creationId xmlns:a16="http://schemas.microsoft.com/office/drawing/2014/main" id="{CCD4A927-78A5-D9DF-134A-895E85A17EA6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2580361" y="1690688"/>
            <a:ext cx="6901841" cy="450969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0581156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C222BA7-2669-825B-747F-93C019EE8DC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404040"/>
                </a:solidFill>
                <a:effectLst/>
                <a:latin typeface="Inter"/>
              </a:rPr>
              <a:t>AHB2APB Bridge Functionality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B95B2F0-06A1-6CD7-F69D-7F3809FE5A6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pPr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04040"/>
                </a:solidFill>
                <a:effectLst/>
                <a:latin typeface="Inter"/>
              </a:rPr>
              <a:t>Key Functions</a:t>
            </a: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Latches and decodes AHB addresses.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Generates PSEL signals for APB peripherals.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Converts AHB transactions to APB transactions.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Handles wait states for synchronization.</a:t>
            </a:r>
          </a:p>
          <a:p>
            <a:pPr marL="457200" lvl="1" indent="0" algn="l">
              <a:spcBef>
                <a:spcPts val="300"/>
              </a:spcBef>
              <a:buNone/>
            </a:pPr>
            <a:endParaRPr lang="en-US" b="0" i="0" dirty="0">
              <a:solidFill>
                <a:srgbClr val="404040"/>
              </a:solidFill>
              <a:effectLst/>
              <a:latin typeface="Inter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04040"/>
                </a:solidFill>
                <a:effectLst/>
                <a:latin typeface="Inter"/>
              </a:rPr>
              <a:t>Write Transfer: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IN" dirty="0"/>
              <a:t>Converts HRDATA to PWDATA.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endParaRPr lang="en-IN" dirty="0"/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04040"/>
                </a:solidFill>
                <a:effectLst/>
                <a:latin typeface="Inter"/>
              </a:rPr>
              <a:t>Read Transfer: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r>
              <a:rPr lang="en-IN" dirty="0"/>
              <a:t>Converts PRDATA to HRDATA.</a:t>
            </a:r>
          </a:p>
          <a:p>
            <a:pPr lvl="1">
              <a:spcBef>
                <a:spcPts val="300"/>
              </a:spcBef>
              <a:spcAft>
                <a:spcPts val="300"/>
              </a:spcAft>
            </a:pPr>
            <a:endParaRPr lang="en-IN" dirty="0"/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49381244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180AFF-759D-8F10-CA42-700AD1B73A9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Inter"/>
              </a:rPr>
              <a:t>Read and Write Transfer</a:t>
            </a:r>
            <a:endParaRPr lang="en-IN" b="1" dirty="0">
              <a:latin typeface="Inter"/>
            </a:endParaRPr>
          </a:p>
        </p:txBody>
      </p:sp>
      <p:pic>
        <p:nvPicPr>
          <p:cNvPr id="4" name="Image 5" descr="A screenshot of a computer screen  Description automatically generated">
            <a:extLst>
              <a:ext uri="{FF2B5EF4-FFF2-40B4-BE49-F238E27FC236}">
                <a16:creationId xmlns:a16="http://schemas.microsoft.com/office/drawing/2014/main" id="{DCE183E2-C198-5EDC-3F6F-F92C8E7FABB2}"/>
              </a:ext>
            </a:extLst>
          </p:cNvPr>
          <p:cNvPicPr>
            <a:picLocks noGrp="1"/>
          </p:cNvPicPr>
          <p:nvPr>
            <p:ph idx="1"/>
          </p:nvPr>
        </p:nvPicPr>
        <p:blipFill>
          <a:blip r:embed="rId2" cstate="print"/>
          <a:stretch>
            <a:fillRect/>
          </a:stretch>
        </p:blipFill>
        <p:spPr>
          <a:xfrm>
            <a:off x="4457700" y="1829594"/>
            <a:ext cx="3809478" cy="478414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761238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3B3594A-44E4-ADA2-CBC3-89CAF5A9792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404040"/>
                </a:solidFill>
                <a:effectLst/>
                <a:latin typeface="Inter"/>
              </a:rPr>
              <a:t>Verification Plan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F68EB0B-11D2-1931-C84E-CE019AB07F7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404040"/>
                </a:solidFill>
                <a:effectLst/>
                <a:latin typeface="Inter"/>
              </a:rPr>
              <a:t>Verification Objectives</a:t>
            </a:r>
            <a:r>
              <a:rPr lang="en-IN" b="0" i="0" dirty="0">
                <a:solidFill>
                  <a:srgbClr val="404040"/>
                </a:solidFill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404040"/>
                </a:solidFill>
                <a:effectLst/>
                <a:latin typeface="Inter"/>
              </a:rPr>
              <a:t>Ensure correct data transfer between AHB and APB.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404040"/>
                </a:solidFill>
                <a:effectLst/>
                <a:latin typeface="Inter"/>
              </a:rPr>
              <a:t>Verify protocol compliance (AHB and APB).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404040"/>
                </a:solidFill>
                <a:effectLst/>
                <a:latin typeface="Inter"/>
              </a:rPr>
              <a:t>Handle error conditions, and corner cases.</a:t>
            </a:r>
          </a:p>
          <a:p>
            <a:pPr marL="457200" lvl="1" indent="0" algn="l">
              <a:spcBef>
                <a:spcPts val="300"/>
              </a:spcBef>
              <a:buNone/>
            </a:pPr>
            <a:endParaRPr lang="en-IN" b="0" i="0" dirty="0">
              <a:solidFill>
                <a:srgbClr val="404040"/>
              </a:solidFill>
              <a:effectLst/>
              <a:latin typeface="Inter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404040"/>
                </a:solidFill>
                <a:effectLst/>
                <a:latin typeface="Inter"/>
              </a:rPr>
              <a:t>Verification Levels</a:t>
            </a:r>
            <a:r>
              <a:rPr lang="en-IN" b="0" i="0" dirty="0">
                <a:solidFill>
                  <a:srgbClr val="404040"/>
                </a:solidFill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404040"/>
                </a:solidFill>
                <a:effectLst/>
                <a:latin typeface="Inter"/>
              </a:rPr>
              <a:t>Top-level module verification for end-to-end functionality.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9616198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207E93-B87F-12CB-C668-D8DDDB31BC9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404040"/>
                </a:solidFill>
                <a:effectLst/>
                <a:latin typeface="Inter"/>
              </a:rPr>
              <a:t>UVM Testbench Architecture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2A5A4D-2056-6CB8-2C22-7A5698EFB41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404040"/>
                </a:solidFill>
                <a:effectLst/>
                <a:latin typeface="Inter"/>
              </a:rPr>
              <a:t>UVM Components</a:t>
            </a:r>
            <a:r>
              <a:rPr lang="en-IN" b="0" i="0" dirty="0">
                <a:solidFill>
                  <a:srgbClr val="404040"/>
                </a:solidFill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404040"/>
                </a:solidFill>
                <a:effectLst/>
                <a:latin typeface="Inter"/>
              </a:rPr>
              <a:t>AHB Agent</a:t>
            </a:r>
            <a:r>
              <a:rPr lang="en-IN" b="0" i="0" dirty="0">
                <a:solidFill>
                  <a:srgbClr val="404040"/>
                </a:solidFill>
                <a:effectLst/>
                <a:latin typeface="Inter"/>
              </a:rPr>
              <a:t>: Driver, Sequencer, Monitor.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404040"/>
                </a:solidFill>
                <a:effectLst/>
                <a:latin typeface="Inter"/>
              </a:rPr>
              <a:t>APB Agent</a:t>
            </a:r>
            <a:r>
              <a:rPr lang="en-IN" b="0" i="0" dirty="0">
                <a:solidFill>
                  <a:srgbClr val="404040"/>
                </a:solidFill>
                <a:effectLst/>
                <a:latin typeface="Inter"/>
              </a:rPr>
              <a:t>: Driver, Sequencer, Monitor.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404040"/>
                </a:solidFill>
                <a:effectLst/>
                <a:latin typeface="Inter"/>
              </a:rPr>
              <a:t>Scoreboard</a:t>
            </a:r>
            <a:r>
              <a:rPr lang="en-IN" b="0" i="0" dirty="0">
                <a:solidFill>
                  <a:srgbClr val="404040"/>
                </a:solidFill>
                <a:effectLst/>
                <a:latin typeface="Inter"/>
              </a:rPr>
              <a:t>: Compares expected vs. actual transactions.</a:t>
            </a:r>
          </a:p>
          <a:p>
            <a:pPr marL="457200" lvl="1" indent="0" algn="l">
              <a:spcBef>
                <a:spcPts val="300"/>
              </a:spcBef>
              <a:buNone/>
            </a:pPr>
            <a:endParaRPr lang="en-IN" dirty="0">
              <a:solidFill>
                <a:srgbClr val="404040"/>
              </a:solidFill>
              <a:latin typeface="Inter"/>
            </a:endParaRPr>
          </a:p>
          <a:p>
            <a:pPr marL="457200" lvl="1" indent="0" algn="l">
              <a:spcBef>
                <a:spcPts val="300"/>
              </a:spcBef>
              <a:buNone/>
            </a:pPr>
            <a:endParaRPr lang="en-IN" b="0" i="0" dirty="0">
              <a:solidFill>
                <a:srgbClr val="404040"/>
              </a:solidFill>
              <a:effectLst/>
              <a:latin typeface="Inter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404040"/>
                </a:solidFill>
                <a:effectLst/>
                <a:latin typeface="Inter"/>
              </a:rPr>
              <a:t>Verification Flow</a:t>
            </a:r>
            <a:r>
              <a:rPr lang="en-IN" b="0" i="0" dirty="0">
                <a:solidFill>
                  <a:srgbClr val="404040"/>
                </a:solidFill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b="0" i="0" dirty="0">
                <a:solidFill>
                  <a:srgbClr val="404040"/>
                </a:solidFill>
                <a:effectLst/>
                <a:latin typeface="Inter"/>
              </a:rPr>
              <a:t>Build → Connect → Run → Check → Report.</a:t>
            </a:r>
          </a:p>
          <a:p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6741147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6DF411C-0CBB-475E-F175-2C1A77A750B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404040"/>
                </a:solidFill>
                <a:effectLst/>
                <a:latin typeface="Inter"/>
              </a:rPr>
              <a:t>Test Cases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2296FD0-B502-0EB7-8081-611A188791D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04040"/>
                </a:solidFill>
                <a:effectLst/>
                <a:latin typeface="Inter"/>
              </a:rPr>
              <a:t>Test Types</a:t>
            </a: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04040"/>
                </a:solidFill>
                <a:effectLst/>
                <a:latin typeface="Inter"/>
              </a:rPr>
              <a:t>Single Read/Write</a:t>
            </a: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: Basic read/write operations.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04040"/>
                </a:solidFill>
                <a:effectLst/>
                <a:latin typeface="Inter"/>
              </a:rPr>
              <a:t>Burst Read/Write</a:t>
            </a: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: Burst mode transactions.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04040"/>
                </a:solidFill>
                <a:effectLst/>
                <a:latin typeface="Inter"/>
              </a:rPr>
              <a:t>Corner Cases</a:t>
            </a: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: Address boundary testing, error injection.</a:t>
            </a:r>
          </a:p>
        </p:txBody>
      </p:sp>
    </p:spTree>
    <p:extLst>
      <p:ext uri="{BB962C8B-B14F-4D97-AF65-F5344CB8AC3E}">
        <p14:creationId xmlns:p14="http://schemas.microsoft.com/office/powerpoint/2010/main" val="39761306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0CC359-8957-B6C5-64B0-6695A8AC46E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404040"/>
                </a:solidFill>
                <a:effectLst/>
                <a:latin typeface="Inter"/>
              </a:rPr>
              <a:t>Simulation Results</a:t>
            </a:r>
            <a:endParaRPr lang="en-IN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8777055-0D45-215F-DAEF-F6DB821E7EC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19098"/>
          </a:xfrm>
        </p:spPr>
        <p:txBody>
          <a:bodyPr/>
          <a:lstStyle/>
          <a:p>
            <a:r>
              <a:rPr lang="en-US" b="1" i="0" dirty="0">
                <a:solidFill>
                  <a:srgbClr val="404040"/>
                </a:solidFill>
                <a:effectLst/>
                <a:latin typeface="Inter"/>
              </a:rPr>
              <a:t>Single Read/Write</a:t>
            </a: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: Basic read/write operations.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665383-E1CB-1243-AD4F-1BA3E8BAB78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29617" y="2453574"/>
            <a:ext cx="3182528" cy="4119407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315E8BE3-6BF6-480A-59F8-E7E07CDC21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673938" y="2417719"/>
            <a:ext cx="2925032" cy="41151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8323216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D4AF52-23F4-1C56-1C52-8FEFE409C5C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9D0A65F-5ADF-D054-0790-13CC24978C0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404040"/>
                </a:solidFill>
                <a:effectLst/>
                <a:latin typeface="Inter"/>
              </a:rPr>
              <a:t>Simulation Results</a:t>
            </a:r>
            <a:endParaRPr lang="en-IN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D678386E-3A72-EB49-CD36-7FA59138B21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19098"/>
          </a:xfrm>
        </p:spPr>
        <p:txBody>
          <a:bodyPr/>
          <a:lstStyle/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1" i="0" dirty="0">
                <a:solidFill>
                  <a:srgbClr val="404040"/>
                </a:solidFill>
                <a:effectLst/>
                <a:latin typeface="Inter"/>
              </a:rPr>
              <a:t>Burst Read/Write</a:t>
            </a: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: Burst mode transactions.</a:t>
            </a:r>
          </a:p>
          <a:p>
            <a:endParaRPr lang="en-IN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BADF74DB-50DB-9FCA-C208-720E8022E86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31133" y="2422875"/>
            <a:ext cx="3316867" cy="396238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19797EE6-FEEB-F50E-E83E-3B506FF08A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126" y="2382962"/>
            <a:ext cx="3316868" cy="404221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71270316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61C95FE-A47C-1C07-8FA2-0872E558C2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2EA1C4-749E-7596-419F-A389BB66F5D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404040"/>
                </a:solidFill>
                <a:effectLst/>
                <a:latin typeface="Inter"/>
              </a:rPr>
              <a:t>Simulation Results</a:t>
            </a:r>
            <a:endParaRPr lang="en-IN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507563E1-1A5F-8D67-ED83-73C203BCDDD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519098"/>
          </a:xfrm>
        </p:spPr>
        <p:txBody>
          <a:bodyPr/>
          <a:lstStyle/>
          <a:p>
            <a:r>
              <a:rPr lang="en-US" b="1" i="0" dirty="0">
                <a:solidFill>
                  <a:srgbClr val="404040"/>
                </a:solidFill>
                <a:effectLst/>
                <a:latin typeface="Inter"/>
              </a:rPr>
              <a:t>Corner Cases</a:t>
            </a: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: Address boundary testing, error injection.</a:t>
            </a:r>
          </a:p>
          <a:p>
            <a:endParaRPr lang="en-IN" dirty="0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6D992A7-2EB4-95E9-143A-46B5623145AC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40791" y="2838660"/>
            <a:ext cx="2140060" cy="3530781"/>
          </a:xfrm>
          <a:prstGeom prst="rect">
            <a:avLst/>
          </a:prstGeom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77ACC22-2813-DD9A-FB4C-0C123AE0B29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59087" y="2838660"/>
            <a:ext cx="2057506" cy="3530781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66CBBFF1-74E7-E4EE-4CA5-542AFAADC0A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9796" y="2838660"/>
            <a:ext cx="1987652" cy="3086259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id="{DC4476E2-C466-E49D-3310-E7F70B6E7088}"/>
              </a:ext>
            </a:extLst>
          </p:cNvPr>
          <p:cNvSpPr txBox="1"/>
          <p:nvPr/>
        </p:nvSpPr>
        <p:spPr>
          <a:xfrm>
            <a:off x="940791" y="2469328"/>
            <a:ext cx="208428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Address Mismatch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52CA987E-A944-9CFA-65DA-CD8A4CCDB921}"/>
              </a:ext>
            </a:extLst>
          </p:cNvPr>
          <p:cNvSpPr txBox="1"/>
          <p:nvPr/>
        </p:nvSpPr>
        <p:spPr>
          <a:xfrm>
            <a:off x="4653159" y="2469328"/>
            <a:ext cx="226260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Dropped Transaction</a:t>
            </a: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1E6A2C97-F286-35B4-E5CD-6B43DAE1512C}"/>
              </a:ext>
            </a:extLst>
          </p:cNvPr>
          <p:cNvSpPr txBox="1"/>
          <p:nvPr/>
        </p:nvSpPr>
        <p:spPr>
          <a:xfrm>
            <a:off x="8332304" y="2484071"/>
            <a:ext cx="18444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/>
              <a:t>Write Corruption</a:t>
            </a:r>
          </a:p>
        </p:txBody>
      </p:sp>
    </p:spTree>
    <p:extLst>
      <p:ext uri="{BB962C8B-B14F-4D97-AF65-F5344CB8AC3E}">
        <p14:creationId xmlns:p14="http://schemas.microsoft.com/office/powerpoint/2010/main" val="208439928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06544B-8058-386D-A3F0-4D9A87A855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23359-808D-A284-52CE-F63657B0A1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404040"/>
                </a:solidFill>
                <a:effectLst/>
                <a:latin typeface="Inter"/>
              </a:rPr>
              <a:t>Simulation Results</a:t>
            </a:r>
            <a:endParaRPr lang="en-IN" dirty="0"/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91748DEA-EB87-D2FC-D85A-7325CAF8E0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838200" y="1268064"/>
            <a:ext cx="10515600" cy="519098"/>
          </a:xfrm>
        </p:spPr>
        <p:txBody>
          <a:bodyPr/>
          <a:lstStyle/>
          <a:p>
            <a:r>
              <a:rPr lang="en-US" b="1" i="0" dirty="0">
                <a:solidFill>
                  <a:srgbClr val="404040"/>
                </a:solidFill>
                <a:effectLst/>
                <a:latin typeface="Inter"/>
              </a:rPr>
              <a:t>Combined Cases</a:t>
            </a: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: Combined read/write and burst read/write.</a:t>
            </a:r>
          </a:p>
          <a:p>
            <a:endParaRPr lang="en-IN" dirty="0"/>
          </a:p>
        </p:txBody>
      </p:sp>
      <p:pic>
        <p:nvPicPr>
          <p:cNvPr id="16" name="Picture 15">
            <a:extLst>
              <a:ext uri="{FF2B5EF4-FFF2-40B4-BE49-F238E27FC236}">
                <a16:creationId xmlns:a16="http://schemas.microsoft.com/office/drawing/2014/main" id="{CBF2B30D-66BE-3C95-1C08-90F134B8978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3519" y="1725414"/>
            <a:ext cx="7470048" cy="50128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8289553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105AA8-E1F6-7444-5FE4-83E8CFC2C4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>
                <a:latin typeface="Inter"/>
              </a:rPr>
              <a:t>Coverage report:</a:t>
            </a:r>
            <a:endParaRPr lang="en-IN" b="1" dirty="0">
              <a:latin typeface="Inter"/>
            </a:endParaRPr>
          </a:p>
        </p:txBody>
      </p:sp>
      <p:pic>
        <p:nvPicPr>
          <p:cNvPr id="7" name="Content Placeholder 6" descr="A screenshot of a computer screen&#10;&#10;AI-generated content may be incorrect.">
            <a:extLst>
              <a:ext uri="{FF2B5EF4-FFF2-40B4-BE49-F238E27FC236}">
                <a16:creationId xmlns:a16="http://schemas.microsoft.com/office/drawing/2014/main" id="{8C28C456-7438-4C74-08B5-AAD87E8151B3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1508" y="1530709"/>
            <a:ext cx="5473874" cy="5272136"/>
          </a:xfrm>
        </p:spPr>
      </p:pic>
    </p:spTree>
    <p:extLst>
      <p:ext uri="{BB962C8B-B14F-4D97-AF65-F5344CB8AC3E}">
        <p14:creationId xmlns:p14="http://schemas.microsoft.com/office/powerpoint/2010/main" val="3595964049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BAEE8-9FB0-4A6D-8441-D188DBA3F3E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404040"/>
                </a:solidFill>
                <a:effectLst/>
                <a:latin typeface="Inter"/>
              </a:rPr>
              <a:t>Conclusion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0A3EAB-47FF-5204-AB8C-691825ED321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Successfully designed and verified the AHB2APB bridge.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US" b="0" i="0" dirty="0">
                <a:solidFill>
                  <a:srgbClr val="404040"/>
                </a:solidFill>
                <a:effectLst/>
                <a:latin typeface="Inter"/>
              </a:rPr>
              <a:t>Achieved high functional and code coverage.</a:t>
            </a:r>
          </a:p>
        </p:txBody>
      </p:sp>
    </p:spTree>
    <p:extLst>
      <p:ext uri="{BB962C8B-B14F-4D97-AF65-F5344CB8AC3E}">
        <p14:creationId xmlns:p14="http://schemas.microsoft.com/office/powerpoint/2010/main" val="3422592140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A1D9372-AC99-BDCA-7D6C-207A920D789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IN" b="1" i="0" dirty="0">
                <a:solidFill>
                  <a:srgbClr val="404040"/>
                </a:solidFill>
                <a:effectLst/>
                <a:latin typeface="Inter"/>
              </a:rPr>
              <a:t>References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E6BC6E-E248-F726-3046-C67E92E2410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algn="l"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404040"/>
                </a:solidFill>
                <a:effectLst/>
                <a:latin typeface="Inter"/>
              </a:rPr>
              <a:t>GitHub Repositories</a:t>
            </a:r>
            <a:r>
              <a:rPr lang="en-IN" b="0" i="0" dirty="0">
                <a:solidFill>
                  <a:srgbClr val="404040"/>
                </a:solidFill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b="0" i="0" u="none" strike="noStrike" dirty="0">
                <a:solidFill>
                  <a:srgbClr val="404040"/>
                </a:solidFill>
                <a:effectLst/>
                <a:latin typeface="Inter"/>
                <a:hlinkClick r:id="rId2"/>
              </a:rPr>
              <a:t>AHB-to-APB-Bridge</a:t>
            </a:r>
            <a:endParaRPr lang="en-IN" b="0" i="0" dirty="0">
              <a:solidFill>
                <a:srgbClr val="404040"/>
              </a:solidFill>
              <a:effectLst/>
              <a:latin typeface="Inter"/>
            </a:endParaRP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b="0" i="0" u="none" strike="noStrike" dirty="0" err="1">
                <a:solidFill>
                  <a:srgbClr val="404040"/>
                </a:solidFill>
                <a:effectLst/>
                <a:latin typeface="Inter"/>
                <a:hlinkClick r:id="rId3"/>
              </a:rPr>
              <a:t>Pre_Silicon</a:t>
            </a:r>
            <a:r>
              <a:rPr lang="en-IN" b="0" i="0" u="none" strike="noStrike" dirty="0">
                <a:solidFill>
                  <a:srgbClr val="404040"/>
                </a:solidFill>
                <a:effectLst/>
                <a:latin typeface="Inter"/>
                <a:hlinkClick r:id="rId3"/>
              </a:rPr>
              <a:t>-AHB-</a:t>
            </a:r>
            <a:r>
              <a:rPr lang="en-IN" b="0" i="0" u="none" strike="noStrike" dirty="0" err="1">
                <a:solidFill>
                  <a:srgbClr val="404040"/>
                </a:solidFill>
                <a:effectLst/>
                <a:latin typeface="Inter"/>
                <a:hlinkClick r:id="rId3"/>
              </a:rPr>
              <a:t>to_APB</a:t>
            </a:r>
            <a:r>
              <a:rPr lang="en-IN" b="0" i="0" u="none" strike="noStrike" dirty="0">
                <a:solidFill>
                  <a:srgbClr val="404040"/>
                </a:solidFill>
                <a:effectLst/>
                <a:latin typeface="Inter"/>
                <a:hlinkClick r:id="rId3"/>
              </a:rPr>
              <a:t>-Verification</a:t>
            </a:r>
            <a:endParaRPr lang="en-IN" b="0" i="0" u="none" strike="noStrike" dirty="0">
              <a:solidFill>
                <a:srgbClr val="404040"/>
              </a:solidFill>
              <a:effectLst/>
              <a:latin typeface="Inter"/>
            </a:endParaRPr>
          </a:p>
          <a:p>
            <a:pPr marL="457200" lvl="1" indent="0" algn="l">
              <a:spcBef>
                <a:spcPts val="300"/>
              </a:spcBef>
              <a:buNone/>
            </a:pPr>
            <a:endParaRPr lang="en-IN" dirty="0">
              <a:solidFill>
                <a:srgbClr val="404040"/>
              </a:solidFill>
              <a:latin typeface="Inter"/>
            </a:endParaRPr>
          </a:p>
          <a:p>
            <a:pPr marL="457200" lvl="1" indent="0" algn="l">
              <a:spcBef>
                <a:spcPts val="300"/>
              </a:spcBef>
              <a:buNone/>
            </a:pPr>
            <a:endParaRPr lang="en-IN" b="0" i="0" dirty="0">
              <a:solidFill>
                <a:srgbClr val="404040"/>
              </a:solidFill>
              <a:effectLst/>
              <a:latin typeface="Inter"/>
            </a:endParaRPr>
          </a:p>
          <a:p>
            <a:pPr algn="l">
              <a:spcBef>
                <a:spcPts val="300"/>
              </a:spcBef>
              <a:spcAft>
                <a:spcPts val="300"/>
              </a:spcAft>
              <a:buFont typeface="Arial" panose="020B0604020202020204" pitchFamily="34" charset="0"/>
              <a:buChar char="•"/>
            </a:pPr>
            <a:r>
              <a:rPr lang="en-IN" b="1" i="0" dirty="0">
                <a:solidFill>
                  <a:srgbClr val="404040"/>
                </a:solidFill>
                <a:effectLst/>
                <a:latin typeface="Inter"/>
              </a:rPr>
              <a:t>Tools</a:t>
            </a:r>
            <a:r>
              <a:rPr lang="en-IN" b="0" i="0" dirty="0">
                <a:solidFill>
                  <a:srgbClr val="404040"/>
                </a:solidFill>
                <a:effectLst/>
                <a:latin typeface="Inter"/>
              </a:rPr>
              <a:t>:</a:t>
            </a:r>
          </a:p>
          <a:p>
            <a:pPr marL="742950" lvl="1" indent="-285750" algn="l">
              <a:spcBef>
                <a:spcPts val="300"/>
              </a:spcBef>
              <a:buFont typeface="Arial" panose="020B0604020202020204" pitchFamily="34" charset="0"/>
              <a:buChar char="•"/>
            </a:pPr>
            <a:r>
              <a:rPr lang="en-IN" b="0" i="0" dirty="0" err="1">
                <a:solidFill>
                  <a:srgbClr val="404040"/>
                </a:solidFill>
                <a:effectLst/>
                <a:latin typeface="Inter"/>
              </a:rPr>
              <a:t>QuestaSim</a:t>
            </a:r>
            <a:r>
              <a:rPr lang="en-IN" b="0" i="0" dirty="0">
                <a:solidFill>
                  <a:srgbClr val="404040"/>
                </a:solidFill>
                <a:effectLst/>
                <a:latin typeface="Inter"/>
              </a:rPr>
              <a:t>, EDA Playground.</a:t>
            </a:r>
          </a:p>
          <a:p>
            <a:pPr marL="0" indent="0">
              <a:buNone/>
            </a:pP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384665888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438</TotalTime>
  <Words>468</Words>
  <Application>Microsoft Office PowerPoint</Application>
  <PresentationFormat>Widescreen</PresentationFormat>
  <Paragraphs>120</Paragraphs>
  <Slides>18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Aptos</vt:lpstr>
      <vt:lpstr>Aptos Display</vt:lpstr>
      <vt:lpstr>Arial</vt:lpstr>
      <vt:lpstr>Arial MT</vt:lpstr>
      <vt:lpstr>Inter</vt:lpstr>
      <vt:lpstr>Office Theme</vt:lpstr>
      <vt:lpstr>PowerPoint Presentation</vt:lpstr>
      <vt:lpstr>Table of Contents:</vt:lpstr>
      <vt:lpstr>AHB2APB Bridge Overview</vt:lpstr>
      <vt:lpstr>AHB Bus Protocol</vt:lpstr>
      <vt:lpstr>APB Bus Protocol</vt:lpstr>
      <vt:lpstr>AHB2APB Bridge</vt:lpstr>
      <vt:lpstr>AHB2APB Bridge Functionality</vt:lpstr>
      <vt:lpstr>Read and Write Transfer</vt:lpstr>
      <vt:lpstr>Verification Plan</vt:lpstr>
      <vt:lpstr>UVM Testbench Architecture</vt:lpstr>
      <vt:lpstr>Test Cases</vt:lpstr>
      <vt:lpstr>Simulation Results</vt:lpstr>
      <vt:lpstr>Simulation Results</vt:lpstr>
      <vt:lpstr>Simulation Results</vt:lpstr>
      <vt:lpstr>Simulation Results</vt:lpstr>
      <vt:lpstr>Coverage report:</vt:lpstr>
      <vt:lpstr>Conclusion</vt:lpstr>
      <vt:lpstr>References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Akshaya Kudumalakunte Ravi Kumar</dc:creator>
  <cp:lastModifiedBy>Akshaya Kudumalakunte Ravi Kumar</cp:lastModifiedBy>
  <cp:revision>4</cp:revision>
  <dcterms:created xsi:type="dcterms:W3CDTF">2025-03-04T21:52:59Z</dcterms:created>
  <dcterms:modified xsi:type="dcterms:W3CDTF">2025-03-05T06:05:27Z</dcterms:modified>
</cp:coreProperties>
</file>